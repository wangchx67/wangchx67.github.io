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handoutMasterIdLst>
    <p:handoutMasterId r:id="rId29"/>
  </p:handoutMasterIdLst>
  <p:sldIdLst>
    <p:sldId id="268" r:id="rId2"/>
    <p:sldId id="571" r:id="rId3"/>
    <p:sldId id="586" r:id="rId4"/>
    <p:sldId id="281" r:id="rId5"/>
    <p:sldId id="609" r:id="rId6"/>
    <p:sldId id="623" r:id="rId7"/>
    <p:sldId id="624" r:id="rId8"/>
    <p:sldId id="625" r:id="rId9"/>
    <p:sldId id="630" r:id="rId10"/>
    <p:sldId id="626" r:id="rId11"/>
    <p:sldId id="631" r:id="rId12"/>
    <p:sldId id="632" r:id="rId13"/>
    <p:sldId id="633" r:id="rId14"/>
    <p:sldId id="634" r:id="rId15"/>
    <p:sldId id="635" r:id="rId16"/>
    <p:sldId id="636" r:id="rId17"/>
    <p:sldId id="637" r:id="rId18"/>
    <p:sldId id="638" r:id="rId19"/>
    <p:sldId id="610" r:id="rId20"/>
    <p:sldId id="619" r:id="rId21"/>
    <p:sldId id="639" r:id="rId22"/>
    <p:sldId id="640" r:id="rId23"/>
    <p:sldId id="641" r:id="rId24"/>
    <p:sldId id="642" r:id="rId25"/>
    <p:sldId id="622" r:id="rId26"/>
    <p:sldId id="277"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7">
          <p15:clr>
            <a:srgbClr val="A4A3A4"/>
          </p15:clr>
        </p15:guide>
        <p15:guide id="2" pos="389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chenxi" initials="WCX" lastIdx="1" clrIdx="0">
    <p:extLst>
      <p:ext uri="{19B8F6BF-5375-455C-9EA6-DF929625EA0E}">
        <p15:presenceInfo xmlns:p15="http://schemas.microsoft.com/office/powerpoint/2012/main" userId="f91903b3cf2cd0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14924"/>
    <a:srgbClr val="FF3F3F"/>
    <a:srgbClr val="FFC1C1"/>
    <a:srgbClr val="FF6969"/>
    <a:srgbClr val="005CA1"/>
    <a:srgbClr val="B2B2B2"/>
    <a:srgbClr val="004A82"/>
    <a:srgbClr val="00355C"/>
    <a:srgbClr val="0048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8" autoAdjust="0"/>
    <p:restoredTop sz="91541" autoAdjust="0"/>
  </p:normalViewPr>
  <p:slideViewPr>
    <p:cSldViewPr snapToGrid="0">
      <p:cViewPr varScale="1">
        <p:scale>
          <a:sx n="78" d="100"/>
          <a:sy n="78" d="100"/>
        </p:scale>
        <p:origin x="878" y="58"/>
      </p:cViewPr>
      <p:guideLst>
        <p:guide orient="horz" pos="2047"/>
        <p:guide pos="3892"/>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2023/9/9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A552A8-ECE7-49AA-8726-BE90DBC11947}" type="datetimeFigureOut">
              <a:rPr lang="zh-CN" altLang="en-US" smtClean="0"/>
              <a:t>2023/9/9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8EAD77-486C-432B-9EE9-E6FD5C91EB8A}"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关注公众号：今日双鸭山</a:t>
            </a:r>
            <a:endParaRPr lang="en-US" altLang="zh-CN"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a:t>
            </a:fld>
            <a:endParaRPr lang="zh-CN" altLang="en-US"/>
          </a:p>
        </p:txBody>
      </p:sp>
    </p:spTree>
    <p:extLst>
      <p:ext uri="{BB962C8B-B14F-4D97-AF65-F5344CB8AC3E}">
        <p14:creationId xmlns:p14="http://schemas.microsoft.com/office/powerpoint/2010/main" val="2792138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3</a:t>
            </a:fld>
            <a:endParaRPr lang="zh-CN" altLang="en-US"/>
          </a:p>
        </p:txBody>
      </p:sp>
    </p:spTree>
    <p:extLst>
      <p:ext uri="{BB962C8B-B14F-4D97-AF65-F5344CB8AC3E}">
        <p14:creationId xmlns:p14="http://schemas.microsoft.com/office/powerpoint/2010/main" val="3207738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5</a:t>
            </a:fld>
            <a:endParaRPr lang="zh-CN" altLang="en-US"/>
          </a:p>
        </p:txBody>
      </p:sp>
    </p:spTree>
    <p:extLst>
      <p:ext uri="{BB962C8B-B14F-4D97-AF65-F5344CB8AC3E}">
        <p14:creationId xmlns:p14="http://schemas.microsoft.com/office/powerpoint/2010/main" val="2774255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6</a:t>
            </a:fld>
            <a:endParaRPr lang="zh-CN" altLang="en-US"/>
          </a:p>
        </p:txBody>
      </p:sp>
    </p:spTree>
    <p:extLst>
      <p:ext uri="{BB962C8B-B14F-4D97-AF65-F5344CB8AC3E}">
        <p14:creationId xmlns:p14="http://schemas.microsoft.com/office/powerpoint/2010/main" val="170265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7</a:t>
            </a:fld>
            <a:endParaRPr lang="zh-CN" altLang="en-US"/>
          </a:p>
        </p:txBody>
      </p:sp>
    </p:spTree>
    <p:extLst>
      <p:ext uri="{BB962C8B-B14F-4D97-AF65-F5344CB8AC3E}">
        <p14:creationId xmlns:p14="http://schemas.microsoft.com/office/powerpoint/2010/main" val="347023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8</a:t>
            </a:fld>
            <a:endParaRPr lang="zh-CN" altLang="en-US"/>
          </a:p>
        </p:txBody>
      </p:sp>
    </p:spTree>
    <p:extLst>
      <p:ext uri="{BB962C8B-B14F-4D97-AF65-F5344CB8AC3E}">
        <p14:creationId xmlns:p14="http://schemas.microsoft.com/office/powerpoint/2010/main" val="2931124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9</a:t>
            </a:fld>
            <a:endParaRPr lang="zh-CN" altLang="en-US"/>
          </a:p>
        </p:txBody>
      </p:sp>
    </p:spTree>
    <p:extLst>
      <p:ext uri="{BB962C8B-B14F-4D97-AF65-F5344CB8AC3E}">
        <p14:creationId xmlns:p14="http://schemas.microsoft.com/office/powerpoint/2010/main" val="792397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10</a:t>
            </a:fld>
            <a:endParaRPr lang="zh-CN" altLang="en-US"/>
          </a:p>
        </p:txBody>
      </p:sp>
    </p:spTree>
    <p:extLst>
      <p:ext uri="{BB962C8B-B14F-4D97-AF65-F5344CB8AC3E}">
        <p14:creationId xmlns:p14="http://schemas.microsoft.com/office/powerpoint/2010/main" val="2026006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11</a:t>
            </a:fld>
            <a:endParaRPr lang="zh-CN" altLang="en-US"/>
          </a:p>
        </p:txBody>
      </p:sp>
    </p:spTree>
    <p:extLst>
      <p:ext uri="{BB962C8B-B14F-4D97-AF65-F5344CB8AC3E}">
        <p14:creationId xmlns:p14="http://schemas.microsoft.com/office/powerpoint/2010/main" val="2345917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12</a:t>
            </a:fld>
            <a:endParaRPr lang="zh-CN" altLang="en-US"/>
          </a:p>
        </p:txBody>
      </p:sp>
    </p:spTree>
    <p:extLst>
      <p:ext uri="{BB962C8B-B14F-4D97-AF65-F5344CB8AC3E}">
        <p14:creationId xmlns:p14="http://schemas.microsoft.com/office/powerpoint/2010/main" val="3669171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13</a:t>
            </a:fld>
            <a:endParaRPr lang="zh-CN" altLang="en-US"/>
          </a:p>
        </p:txBody>
      </p:sp>
    </p:spTree>
    <p:extLst>
      <p:ext uri="{BB962C8B-B14F-4D97-AF65-F5344CB8AC3E}">
        <p14:creationId xmlns:p14="http://schemas.microsoft.com/office/powerpoint/2010/main" val="4061879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14</a:t>
            </a:fld>
            <a:endParaRPr lang="zh-CN" altLang="en-US"/>
          </a:p>
        </p:txBody>
      </p:sp>
    </p:spTree>
    <p:extLst>
      <p:ext uri="{BB962C8B-B14F-4D97-AF65-F5344CB8AC3E}">
        <p14:creationId xmlns:p14="http://schemas.microsoft.com/office/powerpoint/2010/main" val="1772895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15</a:t>
            </a:fld>
            <a:endParaRPr lang="zh-CN" altLang="en-US"/>
          </a:p>
        </p:txBody>
      </p:sp>
    </p:spTree>
    <p:extLst>
      <p:ext uri="{BB962C8B-B14F-4D97-AF65-F5344CB8AC3E}">
        <p14:creationId xmlns:p14="http://schemas.microsoft.com/office/powerpoint/2010/main" val="2627060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16</a:t>
            </a:fld>
            <a:endParaRPr lang="zh-CN" altLang="en-US"/>
          </a:p>
        </p:txBody>
      </p:sp>
    </p:spTree>
    <p:extLst>
      <p:ext uri="{BB962C8B-B14F-4D97-AF65-F5344CB8AC3E}">
        <p14:creationId xmlns:p14="http://schemas.microsoft.com/office/powerpoint/2010/main" val="1593699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17</a:t>
            </a:fld>
            <a:endParaRPr lang="zh-CN" altLang="en-US"/>
          </a:p>
        </p:txBody>
      </p:sp>
    </p:spTree>
    <p:extLst>
      <p:ext uri="{BB962C8B-B14F-4D97-AF65-F5344CB8AC3E}">
        <p14:creationId xmlns:p14="http://schemas.microsoft.com/office/powerpoint/2010/main" val="8441175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18</a:t>
            </a:fld>
            <a:endParaRPr lang="zh-CN" altLang="en-US"/>
          </a:p>
        </p:txBody>
      </p:sp>
    </p:spTree>
    <p:extLst>
      <p:ext uri="{BB962C8B-B14F-4D97-AF65-F5344CB8AC3E}">
        <p14:creationId xmlns:p14="http://schemas.microsoft.com/office/powerpoint/2010/main" val="740831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19</a:t>
            </a:fld>
            <a:endParaRPr lang="zh-CN" altLang="en-US"/>
          </a:p>
        </p:txBody>
      </p:sp>
    </p:spTree>
    <p:extLst>
      <p:ext uri="{BB962C8B-B14F-4D97-AF65-F5344CB8AC3E}">
        <p14:creationId xmlns:p14="http://schemas.microsoft.com/office/powerpoint/2010/main" val="3766783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20</a:t>
            </a:fld>
            <a:endParaRPr lang="zh-CN" altLang="en-US"/>
          </a:p>
        </p:txBody>
      </p:sp>
    </p:spTree>
    <p:extLst>
      <p:ext uri="{BB962C8B-B14F-4D97-AF65-F5344CB8AC3E}">
        <p14:creationId xmlns:p14="http://schemas.microsoft.com/office/powerpoint/2010/main" val="28858666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21</a:t>
            </a:fld>
            <a:endParaRPr lang="zh-CN" altLang="en-US"/>
          </a:p>
        </p:txBody>
      </p:sp>
    </p:spTree>
    <p:extLst>
      <p:ext uri="{BB962C8B-B14F-4D97-AF65-F5344CB8AC3E}">
        <p14:creationId xmlns:p14="http://schemas.microsoft.com/office/powerpoint/2010/main" val="12954848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22</a:t>
            </a:fld>
            <a:endParaRPr lang="zh-CN" altLang="en-US"/>
          </a:p>
        </p:txBody>
      </p:sp>
    </p:spTree>
    <p:extLst>
      <p:ext uri="{BB962C8B-B14F-4D97-AF65-F5344CB8AC3E}">
        <p14:creationId xmlns:p14="http://schemas.microsoft.com/office/powerpoint/2010/main" val="6188957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23</a:t>
            </a:fld>
            <a:endParaRPr lang="zh-CN" altLang="en-US"/>
          </a:p>
        </p:txBody>
      </p:sp>
    </p:spTree>
    <p:extLst>
      <p:ext uri="{BB962C8B-B14F-4D97-AF65-F5344CB8AC3E}">
        <p14:creationId xmlns:p14="http://schemas.microsoft.com/office/powerpoint/2010/main" val="3410651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24</a:t>
            </a:fld>
            <a:endParaRPr lang="zh-CN" altLang="en-US"/>
          </a:p>
        </p:txBody>
      </p:sp>
    </p:spTree>
    <p:extLst>
      <p:ext uri="{BB962C8B-B14F-4D97-AF65-F5344CB8AC3E}">
        <p14:creationId xmlns:p14="http://schemas.microsoft.com/office/powerpoint/2010/main" val="19946616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25</a:t>
            </a:fld>
            <a:endParaRPr lang="zh-CN" altLang="en-US"/>
          </a:p>
        </p:txBody>
      </p:sp>
    </p:spTree>
    <p:extLst>
      <p:ext uri="{BB962C8B-B14F-4D97-AF65-F5344CB8AC3E}">
        <p14:creationId xmlns:p14="http://schemas.microsoft.com/office/powerpoint/2010/main" val="20737671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关注公众号：今日双鸭山</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D83BAE0-C9ED-413B-BD88-CDBF33EDD95B}" type="datetime1">
              <a:rPr lang="zh-CN" altLang="en-US" smtClean="0"/>
              <a:t>2023/9/9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FC84B33-CCE6-4B82-8613-F18CFD31D0DA}" type="datetime1">
              <a:rPr lang="zh-CN" altLang="en-US" smtClean="0"/>
              <a:t>2023/9/9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B0B69AC-0D17-4D81-BD62-30BF802FFAA5}" type="datetime1">
              <a:rPr lang="zh-CN" altLang="en-US" smtClean="0"/>
              <a:t>2023/9/9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5906115-6148-4854-B254-26FA9D53C41E}" type="datetime1">
              <a:rPr lang="zh-CN" altLang="en-US" smtClean="0"/>
              <a:t>2023/9/9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C0E3089-ED8D-43C3-AEEA-DFEFAAD38D1E}" type="datetime1">
              <a:rPr lang="zh-CN" altLang="en-US" smtClean="0"/>
              <a:t>2023/9/9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3A6611D-2559-465E-8384-38B4300A25BA}" type="datetime1">
              <a:rPr lang="zh-CN" altLang="en-US" smtClean="0"/>
              <a:t>2023/9/9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B5BBA38-CF10-45BE-952A-CD2CDD80F820}" type="datetime1">
              <a:rPr lang="zh-CN" altLang="en-US" smtClean="0"/>
              <a:t>2023/9/9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836CBA5-C314-45C0-B929-D56E9AACF98C}" type="datetime1">
              <a:rPr lang="zh-CN" altLang="en-US" smtClean="0"/>
              <a:t>2023/9/9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7911B3D-A852-4D3B-96EA-C155E5F0DE42}" type="datetime1">
              <a:rPr lang="zh-CN" altLang="en-US" smtClean="0"/>
              <a:t>2023/9/9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6627BC-8FF8-4FFE-BD14-BCC36678F71E}" type="datetime1">
              <a:rPr lang="zh-CN" altLang="en-US" smtClean="0"/>
              <a:t>2023/9/9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868A2BF-AFBE-42CA-8EA4-477D61387BAA}" type="datetime1">
              <a:rPr lang="zh-CN" altLang="en-US" smtClean="0"/>
              <a:t>2023/9/9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7A6B5-B782-41EF-B86F-E4039C3F8E0F}" type="datetime1">
              <a:rPr lang="zh-CN" altLang="en-US" smtClean="0"/>
              <a:t>2023/9/9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635508-54A0-4FB0-A4C5-6467DE85E92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5.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t="20323" r="14726" b="48018"/>
          <a:stretch>
            <a:fillRect/>
          </a:stretch>
        </p:blipFill>
        <p:spPr>
          <a:xfrm>
            <a:off x="15050" y="5223309"/>
            <a:ext cx="5870824" cy="1634689"/>
          </a:xfrm>
          <a:prstGeom prst="rect">
            <a:avLst/>
          </a:prstGeom>
        </p:spPr>
      </p:pic>
      <p:grpSp>
        <p:nvGrpSpPr>
          <p:cNvPr id="2" name="组合 1"/>
          <p:cNvGrpSpPr/>
          <p:nvPr/>
        </p:nvGrpSpPr>
        <p:grpSpPr>
          <a:xfrm>
            <a:off x="4705866" y="0"/>
            <a:ext cx="2780268" cy="3063728"/>
            <a:chOff x="4705866" y="0"/>
            <a:chExt cx="2780268" cy="3063728"/>
          </a:xfrm>
        </p:grpSpPr>
        <p:sp>
          <p:nvSpPr>
            <p:cNvPr id="28" name="任意多边形 27"/>
            <p:cNvSpPr/>
            <p:nvPr/>
          </p:nvSpPr>
          <p:spPr>
            <a:xfrm>
              <a:off x="4705866" y="0"/>
              <a:ext cx="2780268" cy="3063728"/>
            </a:xfrm>
            <a:custGeom>
              <a:avLst/>
              <a:gdLst>
                <a:gd name="connsiteX0" fmla="*/ 0 w 2780268"/>
                <a:gd name="connsiteY0" fmla="*/ 0 h 3063728"/>
                <a:gd name="connsiteX1" fmla="*/ 2780268 w 2780268"/>
                <a:gd name="connsiteY1" fmla="*/ 0 h 3063728"/>
                <a:gd name="connsiteX2" fmla="*/ 2780268 w 2780268"/>
                <a:gd name="connsiteY2" fmla="*/ 1673594 h 3063728"/>
                <a:gd name="connsiteX3" fmla="*/ 1390134 w 2780268"/>
                <a:gd name="connsiteY3" fmla="*/ 3063728 h 3063728"/>
                <a:gd name="connsiteX4" fmla="*/ 0 w 2780268"/>
                <a:gd name="connsiteY4" fmla="*/ 1673594 h 3063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0268" h="3063728">
                  <a:moveTo>
                    <a:pt x="0" y="0"/>
                  </a:moveTo>
                  <a:lnTo>
                    <a:pt x="2780268" y="0"/>
                  </a:lnTo>
                  <a:lnTo>
                    <a:pt x="2780268" y="1673594"/>
                  </a:lnTo>
                  <a:cubicBezTo>
                    <a:pt x="2780268" y="2441344"/>
                    <a:pt x="2157884" y="3063728"/>
                    <a:pt x="1390134" y="3063728"/>
                  </a:cubicBezTo>
                  <a:cubicBezTo>
                    <a:pt x="622384" y="3063728"/>
                    <a:pt x="0" y="2441344"/>
                    <a:pt x="0" y="1673594"/>
                  </a:cubicBezTo>
                  <a:close/>
                </a:path>
              </a:pathLst>
            </a:cu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875891" y="408799"/>
              <a:ext cx="2439190" cy="2439192"/>
              <a:chOff x="5007734" y="902247"/>
              <a:chExt cx="2543685" cy="2543686"/>
            </a:xfrm>
          </p:grpSpPr>
          <p:sp>
            <p:nvSpPr>
              <p:cNvPr id="8" name="椭圆 7"/>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4" name="矩形 13"/>
          <p:cNvSpPr/>
          <p:nvPr/>
        </p:nvSpPr>
        <p:spPr>
          <a:xfrm>
            <a:off x="0" y="5223310"/>
            <a:ext cx="12192000" cy="1634689"/>
          </a:xfrm>
          <a:prstGeom prst="rect">
            <a:avLst/>
          </a:prstGeom>
          <a:gradFill flip="none" rotWithShape="1">
            <a:gsLst>
              <a:gs pos="0">
                <a:srgbClr val="014924"/>
              </a:gs>
              <a:gs pos="51000">
                <a:srgbClr val="014924"/>
              </a:gs>
              <a:gs pos="80000">
                <a:srgbClr val="014924">
                  <a:alpha val="80000"/>
                </a:srgbClr>
              </a:gs>
              <a:gs pos="100000">
                <a:srgbClr val="014924">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5053673"/>
            <a:ext cx="12192000" cy="7710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878631" y="3429000"/>
            <a:ext cx="8434738" cy="922020"/>
          </a:xfrm>
          <a:prstGeom prst="rect">
            <a:avLst/>
          </a:prstGeom>
          <a:noFill/>
        </p:spPr>
        <p:txBody>
          <a:bodyPr wrap="square" rtlCol="0">
            <a:spAutoFit/>
          </a:bodyPr>
          <a:lstStyle/>
          <a:p>
            <a:pPr algn="ctr"/>
            <a:r>
              <a:rPr lang="en-US" altLang="zh-CN" sz="5400" b="1" dirty="0">
                <a:solidFill>
                  <a:srgbClr val="014924"/>
                </a:solidFill>
                <a:latin typeface="微软雅黑" panose="020B0503020204020204" pitchFamily="34" charset="-122"/>
                <a:ea typeface="微软雅黑" panose="020B0503020204020204" pitchFamily="34" charset="-122"/>
              </a:rPr>
              <a:t>FVL</a:t>
            </a:r>
            <a:r>
              <a:rPr lang="zh-CN" altLang="en-US" sz="5400" b="1" dirty="0">
                <a:solidFill>
                  <a:srgbClr val="014924"/>
                </a:solidFill>
                <a:latin typeface="微软雅黑" panose="020B0503020204020204" pitchFamily="34" charset="-122"/>
                <a:ea typeface="微软雅黑" panose="020B0503020204020204" pitchFamily="34" charset="-122"/>
              </a:rPr>
              <a:t>学习讲座</a:t>
            </a:r>
          </a:p>
        </p:txBody>
      </p:sp>
      <p:sp>
        <p:nvSpPr>
          <p:cNvPr id="21" name="文本框 20"/>
          <p:cNvSpPr txBox="1"/>
          <p:nvPr/>
        </p:nvSpPr>
        <p:spPr>
          <a:xfrm>
            <a:off x="7675300" y="5672353"/>
            <a:ext cx="3934639" cy="646331"/>
          </a:xfrm>
          <a:prstGeom prst="rect">
            <a:avLst/>
          </a:prstGeom>
          <a:noFill/>
        </p:spPr>
        <p:txBody>
          <a:bodyPr wrap="square" rtlCol="0">
            <a:spAutoFit/>
          </a:bodyPr>
          <a:lstStyle/>
          <a:p>
            <a:pPr indent="0">
              <a:buFont typeface="Arial" panose="020B0604020202020204" pitchFamily="34" charset="0"/>
              <a:buNone/>
            </a:pPr>
            <a:r>
              <a:rPr lang="zh-CN" altLang="en-US" dirty="0">
                <a:solidFill>
                  <a:schemeClr val="bg1"/>
                </a:solidFill>
                <a:latin typeface="微软雅黑" panose="020B0503020204020204" pitchFamily="34" charset="-122"/>
                <a:ea typeface="微软雅黑" panose="020B0503020204020204" pitchFamily="34" charset="-122"/>
              </a:rPr>
              <a:t>汇报人：王晨曦</a:t>
            </a:r>
            <a:endParaRPr lang="en-US" altLang="zh-CN" dirty="0">
              <a:solidFill>
                <a:schemeClr val="bg1"/>
              </a:solidFill>
              <a:latin typeface="微软雅黑" panose="020B0503020204020204" pitchFamily="34" charset="-122"/>
              <a:ea typeface="微软雅黑" panose="020B0503020204020204" pitchFamily="34" charset="-122"/>
            </a:endParaRPr>
          </a:p>
          <a:p>
            <a:pPr indent="0">
              <a:buFont typeface="Arial" panose="020B0604020202020204" pitchFamily="34" charset="0"/>
              <a:buNone/>
            </a:pPr>
            <a:r>
              <a:rPr lang="en-US" altLang="zh-CN" dirty="0">
                <a:solidFill>
                  <a:schemeClr val="bg1"/>
                </a:solidFill>
                <a:latin typeface="微软雅黑" panose="020B0503020204020204" pitchFamily="34" charset="-122"/>
                <a:ea typeface="微软雅黑" panose="020B0503020204020204" pitchFamily="34" charset="-122"/>
              </a:rPr>
              <a:t>2023.09.10</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cstate="print">
            <a:extLst>
              <a:ext uri="{BEBA8EAE-BF5A-486C-A8C5-ECC9F3942E4B}">
                <a14:imgProps xmlns:a14="http://schemas.microsoft.com/office/drawing/2010/main">
                  <a14:imgLayer r:embed="rId5">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5114939" y="650634"/>
            <a:ext cx="1936392" cy="1930811"/>
          </a:xfrm>
          <a:prstGeom prst="rect">
            <a:avLst/>
          </a:prstGeom>
        </p:spPr>
      </p:pic>
      <p:sp>
        <p:nvSpPr>
          <p:cNvPr id="3" name="灯片编号占位符 2">
            <a:extLst>
              <a:ext uri="{FF2B5EF4-FFF2-40B4-BE49-F238E27FC236}">
                <a16:creationId xmlns:a16="http://schemas.microsoft.com/office/drawing/2014/main" id="{0C88FA75-D91D-4972-A633-0DF08A9B6A6B}"/>
              </a:ext>
            </a:extLst>
          </p:cNvPr>
          <p:cNvSpPr>
            <a:spLocks noGrp="1"/>
          </p:cNvSpPr>
          <p:nvPr>
            <p:ph type="sldNum" sz="quarter" idx="12"/>
          </p:nvPr>
        </p:nvSpPr>
        <p:spPr/>
        <p:txBody>
          <a:bodyPr/>
          <a:lstStyle/>
          <a:p>
            <a:fld id="{01635508-54A0-4FB0-A4C5-6467DE85E924}" type="slidenum">
              <a:rPr lang="zh-CN" altLang="en-US" smtClean="0"/>
              <a:t>1</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308"/>
    </mc:Choice>
    <mc:Fallback xmlns="">
      <p:transition spd="slow" advTm="130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t="22098" r="14726" b="48018"/>
          <a:stretch>
            <a:fillRect/>
          </a:stretch>
        </p:blipFill>
        <p:spPr>
          <a:xfrm>
            <a:off x="6321176" y="2686649"/>
            <a:ext cx="5870824" cy="1542449"/>
          </a:xfrm>
          <a:prstGeom prst="rect">
            <a:avLst/>
          </a:prstGeom>
        </p:spPr>
      </p:pic>
      <p:sp>
        <p:nvSpPr>
          <p:cNvPr id="11" name="矩形 10"/>
          <p:cNvSpPr/>
          <p:nvPr/>
        </p:nvSpPr>
        <p:spPr>
          <a:xfrm>
            <a:off x="2857500" y="2686049"/>
            <a:ext cx="9334500" cy="1543049"/>
          </a:xfrm>
          <a:prstGeom prst="rect">
            <a:avLst/>
          </a:prstGeom>
          <a:gradFill flip="none" rotWithShape="1">
            <a:gsLst>
              <a:gs pos="35000">
                <a:srgbClr val="014924"/>
              </a:gs>
              <a:gs pos="0">
                <a:srgbClr val="014924"/>
              </a:gs>
              <a:gs pos="59000">
                <a:srgbClr val="014924">
                  <a:alpha val="95000"/>
                </a:srgbClr>
              </a:gs>
              <a:gs pos="77000">
                <a:srgbClr val="014924">
                  <a:alpha val="70000"/>
                </a:srgbClr>
              </a:gs>
              <a:gs pos="100000">
                <a:srgbClr val="014924">
                  <a:alpha val="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a:solidFill>
            <a:srgbClr val="014924"/>
          </a:solidFill>
        </p:grpSpPr>
        <p:sp>
          <p:nvSpPr>
            <p:cNvPr id="10" name="矩形 9"/>
            <p:cNvSpPr/>
            <p:nvPr/>
          </p:nvSpPr>
          <p:spPr>
            <a:xfrm>
              <a:off x="1123950" y="2686050"/>
              <a:ext cx="1543050" cy="15430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407285" y="2903577"/>
              <a:ext cx="976380" cy="1107996"/>
            </a:xfrm>
            <a:prstGeom prst="rect">
              <a:avLst/>
            </a:prstGeom>
            <a:grp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1</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5" name="文本框 14"/>
          <p:cNvSpPr txBox="1"/>
          <p:nvPr/>
        </p:nvSpPr>
        <p:spPr>
          <a:xfrm>
            <a:off x="3088504" y="3167391"/>
            <a:ext cx="5032941" cy="523216"/>
          </a:xfrm>
          <a:prstGeom prst="rect">
            <a:avLst/>
          </a:prstGeom>
          <a:noFill/>
        </p:spPr>
        <p:txBody>
          <a:bodyPr wrap="square" lIns="91436" tIns="45718" rIns="91436" bIns="45718"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相机成像过程</a:t>
            </a:r>
            <a:endParaRPr lang="en-US" altLang="zh-CN" sz="2800" dirty="0">
              <a:solidFill>
                <a:schemeClr val="bg1"/>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rotWithShape="1">
          <a:blip r:embed="rId4"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
        <p:nvSpPr>
          <p:cNvPr id="3" name="灯片编号占位符 2">
            <a:extLst>
              <a:ext uri="{FF2B5EF4-FFF2-40B4-BE49-F238E27FC236}">
                <a16:creationId xmlns:a16="http://schemas.microsoft.com/office/drawing/2014/main" id="{E0DF437B-7774-4D37-8F3B-CDDC7337C27F}"/>
              </a:ext>
            </a:extLst>
          </p:cNvPr>
          <p:cNvSpPr>
            <a:spLocks noGrp="1"/>
          </p:cNvSpPr>
          <p:nvPr>
            <p:ph type="sldNum" sz="quarter" idx="12"/>
          </p:nvPr>
        </p:nvSpPr>
        <p:spPr/>
        <p:txBody>
          <a:bodyPr/>
          <a:lstStyle/>
          <a:p>
            <a:fld id="{01635508-54A0-4FB0-A4C5-6467DE85E924}" type="slidenum">
              <a:rPr lang="zh-CN" altLang="en-US" smtClean="0"/>
              <a:t>2</a:t>
            </a:fld>
            <a:endParaRPr lang="zh-CN" altLang="en-US"/>
          </a:p>
        </p:txBody>
      </p:sp>
    </p:spTree>
    <p:extLst>
      <p:ext uri="{BB962C8B-B14F-4D97-AF65-F5344CB8AC3E}">
        <p14:creationId xmlns:p14="http://schemas.microsoft.com/office/powerpoint/2010/main" val="459972665"/>
      </p:ext>
    </p:extLst>
  </p:cSld>
  <p:clrMapOvr>
    <a:masterClrMapping/>
  </p:clrMapOvr>
  <mc:AlternateContent xmlns:mc="http://schemas.openxmlformats.org/markup-compatibility/2006" xmlns:p14="http://schemas.microsoft.com/office/powerpoint/2010/main">
    <mc:Choice Requires="p14">
      <p:transition spd="slow" p14:dur="2000" advTm="36622"/>
    </mc:Choice>
    <mc:Fallback xmlns="">
      <p:transition spd="slow" advTm="3662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82F3313A-ABD7-CFC2-5755-4D91CF11000C}"/>
              </a:ext>
            </a:extLst>
          </p:cNvPr>
          <p:cNvPicPr>
            <a:picLocks noChangeAspect="1"/>
          </p:cNvPicPr>
          <p:nvPr/>
        </p:nvPicPr>
        <p:blipFill>
          <a:blip r:embed="rId3"/>
          <a:stretch>
            <a:fillRect/>
          </a:stretch>
        </p:blipFill>
        <p:spPr>
          <a:xfrm>
            <a:off x="299402" y="4775724"/>
            <a:ext cx="11186465" cy="1991587"/>
          </a:xfrm>
          <a:prstGeom prst="rect">
            <a:avLst/>
          </a:prstGeom>
        </p:spPr>
      </p:pic>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a:xfrm>
            <a:off x="8610600" y="6356350"/>
            <a:ext cx="2743200" cy="365125"/>
          </a:xfrm>
        </p:spPr>
        <p:txBody>
          <a:bodyPr/>
          <a:lstStyle/>
          <a:p>
            <a:fld id="{01635508-54A0-4FB0-A4C5-6467DE85E924}" type="slidenum">
              <a:rPr lang="zh-CN" altLang="en-US" b="1" smtClean="0"/>
              <a:t>3</a:t>
            </a:fld>
            <a:endParaRPr lang="zh-CN" altLang="en-US" b="1" dirty="0"/>
          </a:p>
        </p:txBody>
      </p:sp>
      <p:sp>
        <p:nvSpPr>
          <p:cNvPr id="13" name="文本框 12">
            <a:extLst>
              <a:ext uri="{FF2B5EF4-FFF2-40B4-BE49-F238E27FC236}">
                <a16:creationId xmlns:a16="http://schemas.microsoft.com/office/drawing/2014/main" id="{B3BF6CB2-0BFC-44F9-A0ED-F5D30C122A64}"/>
              </a:ext>
            </a:extLst>
          </p:cNvPr>
          <p:cNvSpPr txBox="1"/>
          <p:nvPr/>
        </p:nvSpPr>
        <p:spPr>
          <a:xfrm>
            <a:off x="346317" y="741682"/>
            <a:ext cx="10568709" cy="589072"/>
          </a:xfrm>
          <a:prstGeom prst="rect">
            <a:avLst/>
          </a:prstGeom>
          <a:noFill/>
        </p:spPr>
        <p:txBody>
          <a:bodyPr wrap="square" rtlCol="0">
            <a:spAutoFit/>
          </a:bodyPr>
          <a:lstStyle/>
          <a:p>
            <a:pPr>
              <a:lnSpc>
                <a:spcPct val="150000"/>
              </a:lnSpc>
            </a:pPr>
            <a:r>
              <a:rPr lang="en-US" altLang="zh-CN" sz="2400" b="1" dirty="0"/>
              <a:t>Photon to raw pixel value</a:t>
            </a:r>
          </a:p>
        </p:txBody>
      </p:sp>
      <p:sp>
        <p:nvSpPr>
          <p:cNvPr id="6" name="AutoShape 2" descr="https://cos.codec.wang/cv2_understand_convolution.jpg">
            <a:extLst>
              <a:ext uri="{FF2B5EF4-FFF2-40B4-BE49-F238E27FC236}">
                <a16:creationId xmlns:a16="http://schemas.microsoft.com/office/drawing/2014/main" id="{354378C4-D09F-40FB-AF73-52776F99BBF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图片 4">
            <a:extLst>
              <a:ext uri="{FF2B5EF4-FFF2-40B4-BE49-F238E27FC236}">
                <a16:creationId xmlns:a16="http://schemas.microsoft.com/office/drawing/2014/main" id="{391EC117-E853-EAE0-69E7-D3D833D87E93}"/>
              </a:ext>
            </a:extLst>
          </p:cNvPr>
          <p:cNvPicPr>
            <a:picLocks noChangeAspect="1"/>
          </p:cNvPicPr>
          <p:nvPr/>
        </p:nvPicPr>
        <p:blipFill>
          <a:blip r:embed="rId5"/>
          <a:stretch>
            <a:fillRect/>
          </a:stretch>
        </p:blipFill>
        <p:spPr>
          <a:xfrm>
            <a:off x="741970" y="1406071"/>
            <a:ext cx="6938404" cy="2878378"/>
          </a:xfrm>
          <a:prstGeom prst="rect">
            <a:avLst/>
          </a:prstGeom>
        </p:spPr>
      </p:pic>
      <p:sp>
        <p:nvSpPr>
          <p:cNvPr id="7" name="文本框 6">
            <a:extLst>
              <a:ext uri="{FF2B5EF4-FFF2-40B4-BE49-F238E27FC236}">
                <a16:creationId xmlns:a16="http://schemas.microsoft.com/office/drawing/2014/main" id="{584B884A-1238-348B-9AED-45BB723E3FEB}"/>
              </a:ext>
            </a:extLst>
          </p:cNvPr>
          <p:cNvSpPr txBox="1"/>
          <p:nvPr/>
        </p:nvSpPr>
        <p:spPr>
          <a:xfrm>
            <a:off x="346317" y="4186652"/>
            <a:ext cx="10568709" cy="589072"/>
          </a:xfrm>
          <a:prstGeom prst="rect">
            <a:avLst/>
          </a:prstGeom>
          <a:noFill/>
        </p:spPr>
        <p:txBody>
          <a:bodyPr wrap="square" rtlCol="0">
            <a:spAutoFit/>
          </a:bodyPr>
          <a:lstStyle/>
          <a:p>
            <a:pPr>
              <a:lnSpc>
                <a:spcPct val="150000"/>
              </a:lnSpc>
            </a:pPr>
            <a:r>
              <a:rPr lang="en-US" altLang="zh-CN" sz="2400" b="1" dirty="0"/>
              <a:t>Raw RGB to sRGB</a:t>
            </a:r>
            <a:r>
              <a:rPr lang="zh-CN" altLang="en-US" sz="2400" b="1" dirty="0"/>
              <a:t>（</a:t>
            </a:r>
            <a:r>
              <a:rPr lang="en-US" altLang="zh-CN" sz="2400" b="1" dirty="0"/>
              <a:t>Image Signal Processor, ISP</a:t>
            </a:r>
            <a:r>
              <a:rPr lang="zh-CN" altLang="en-US" sz="2400" b="1" dirty="0"/>
              <a:t>）</a:t>
            </a:r>
            <a:endParaRPr lang="en-US" altLang="zh-CN" sz="2400" b="1" dirty="0"/>
          </a:p>
        </p:txBody>
      </p:sp>
      <p:sp>
        <p:nvSpPr>
          <p:cNvPr id="10" name="文本框 9">
            <a:extLst>
              <a:ext uri="{FF2B5EF4-FFF2-40B4-BE49-F238E27FC236}">
                <a16:creationId xmlns:a16="http://schemas.microsoft.com/office/drawing/2014/main" id="{D7F21FCC-CDD0-D03E-0F78-7D2A150D1CD1}"/>
              </a:ext>
            </a:extLst>
          </p:cNvPr>
          <p:cNvSpPr txBox="1"/>
          <p:nvPr/>
        </p:nvSpPr>
        <p:spPr>
          <a:xfrm>
            <a:off x="7866883" y="1852701"/>
            <a:ext cx="2866773" cy="2031325"/>
          </a:xfrm>
          <a:prstGeom prst="rect">
            <a:avLst/>
          </a:prstGeom>
          <a:noFill/>
        </p:spPr>
        <p:txBody>
          <a:bodyPr wrap="square" rtlCol="0">
            <a:spAutoFit/>
          </a:bodyPr>
          <a:lstStyle/>
          <a:p>
            <a:r>
              <a:rPr lang="zh-CN" altLang="en-US" dirty="0"/>
              <a:t>通常来说，光线打到传感器产生像素值的过程中会产生噪声，它们通常符合某种特殊的分布，此时去噪会比较有效，如果通过了</a:t>
            </a:r>
            <a:r>
              <a:rPr lang="en-US" altLang="zh-CN" dirty="0"/>
              <a:t>ISP</a:t>
            </a:r>
            <a:r>
              <a:rPr lang="zh-CN" altLang="en-US" dirty="0"/>
              <a:t>，噪声的分布会无法建模，使得去噪十分困难。</a:t>
            </a:r>
          </a:p>
        </p:txBody>
      </p:sp>
    </p:spTree>
    <p:extLst>
      <p:ext uri="{BB962C8B-B14F-4D97-AF65-F5344CB8AC3E}">
        <p14:creationId xmlns:p14="http://schemas.microsoft.com/office/powerpoint/2010/main" val="3443983048"/>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t="22098" r="14726" b="48018"/>
          <a:stretch>
            <a:fillRect/>
          </a:stretch>
        </p:blipFill>
        <p:spPr>
          <a:xfrm>
            <a:off x="6321176" y="2686649"/>
            <a:ext cx="5870824" cy="1542449"/>
          </a:xfrm>
          <a:prstGeom prst="rect">
            <a:avLst/>
          </a:prstGeom>
        </p:spPr>
      </p:pic>
      <p:sp>
        <p:nvSpPr>
          <p:cNvPr id="18" name="矩形 17"/>
          <p:cNvSpPr/>
          <p:nvPr/>
        </p:nvSpPr>
        <p:spPr>
          <a:xfrm>
            <a:off x="2857500" y="2686049"/>
            <a:ext cx="9334500" cy="1543049"/>
          </a:xfrm>
          <a:prstGeom prst="rect">
            <a:avLst/>
          </a:prstGeom>
          <a:gradFill flip="none" rotWithShape="1">
            <a:gsLst>
              <a:gs pos="35000">
                <a:srgbClr val="014924"/>
              </a:gs>
              <a:gs pos="0">
                <a:srgbClr val="014924"/>
              </a:gs>
              <a:gs pos="59000">
                <a:srgbClr val="014924">
                  <a:alpha val="95000"/>
                </a:srgbClr>
              </a:gs>
              <a:gs pos="77000">
                <a:srgbClr val="014924">
                  <a:alpha val="70000"/>
                </a:srgbClr>
              </a:gs>
              <a:gs pos="100000">
                <a:srgbClr val="014924">
                  <a:alpha val="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a:solidFill>
            <a:srgbClr val="014924"/>
          </a:solidFill>
        </p:grpSpPr>
        <p:sp>
          <p:nvSpPr>
            <p:cNvPr id="9" name="矩形 8"/>
            <p:cNvSpPr/>
            <p:nvPr/>
          </p:nvSpPr>
          <p:spPr>
            <a:xfrm>
              <a:off x="1123950" y="2686050"/>
              <a:ext cx="1543050" cy="15430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407285" y="2903577"/>
              <a:ext cx="976380" cy="1107996"/>
            </a:xfrm>
            <a:prstGeom prst="rect">
              <a:avLst/>
            </a:prstGeom>
            <a:grp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2</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6" name="文本框 15"/>
          <p:cNvSpPr txBox="1"/>
          <p:nvPr/>
        </p:nvSpPr>
        <p:spPr>
          <a:xfrm>
            <a:off x="2950335" y="3226742"/>
            <a:ext cx="8703185" cy="830993"/>
          </a:xfrm>
          <a:prstGeom prst="rect">
            <a:avLst/>
          </a:prstGeom>
          <a:noFill/>
        </p:spPr>
        <p:txBody>
          <a:bodyPr wrap="square" lIns="91436" tIns="45718" rIns="91436" bIns="45718"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A Physics-based Noise Formation Model for Extreme Low-light Raw Denoising  </a:t>
            </a:r>
            <a:r>
              <a:rPr lang="zh-CN" altLang="en-US" sz="2400" dirty="0">
                <a:solidFill>
                  <a:schemeClr val="bg1"/>
                </a:solidFill>
                <a:latin typeface="微软雅黑" panose="020B0503020204020204" pitchFamily="34" charset="-122"/>
                <a:ea typeface="微软雅黑" panose="020B0503020204020204" pitchFamily="34" charset="-122"/>
              </a:rPr>
              <a:t>（</a:t>
            </a:r>
            <a:r>
              <a:rPr lang="en-US" altLang="zh-CN" sz="2400" dirty="0">
                <a:solidFill>
                  <a:schemeClr val="bg1"/>
                </a:solidFill>
                <a:latin typeface="微软雅黑" panose="020B0503020204020204" pitchFamily="34" charset="-122"/>
                <a:ea typeface="微软雅黑" panose="020B0503020204020204" pitchFamily="34" charset="-122"/>
              </a:rPr>
              <a:t>CVPR 2020</a:t>
            </a:r>
            <a:r>
              <a:rPr lang="zh-CN" altLang="en-US" sz="2400" dirty="0">
                <a:solidFill>
                  <a:schemeClr val="bg1"/>
                </a:solidFill>
                <a:latin typeface="微软雅黑" panose="020B0503020204020204" pitchFamily="34" charset="-122"/>
                <a:ea typeface="微软雅黑" panose="020B0503020204020204" pitchFamily="34" charset="-122"/>
              </a:rPr>
              <a:t>）</a:t>
            </a:r>
            <a:endParaRPr lang="en-US" altLang="zh-CN" sz="2400" dirty="0">
              <a:solidFill>
                <a:schemeClr val="bg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rotWithShape="1">
          <a:blip r:embed="rId4"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
        <p:nvSpPr>
          <p:cNvPr id="3" name="灯片编号占位符 2">
            <a:extLst>
              <a:ext uri="{FF2B5EF4-FFF2-40B4-BE49-F238E27FC236}">
                <a16:creationId xmlns:a16="http://schemas.microsoft.com/office/drawing/2014/main" id="{908CE4D1-9F12-4372-8BF5-5D9305DE4E5C}"/>
              </a:ext>
            </a:extLst>
          </p:cNvPr>
          <p:cNvSpPr>
            <a:spLocks noGrp="1"/>
          </p:cNvSpPr>
          <p:nvPr>
            <p:ph type="sldNum" sz="quarter" idx="12"/>
          </p:nvPr>
        </p:nvSpPr>
        <p:spPr/>
        <p:txBody>
          <a:bodyPr/>
          <a:lstStyle/>
          <a:p>
            <a:fld id="{01635508-54A0-4FB0-A4C5-6467DE85E924}"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5</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023F2925-B8ED-91BE-FF5E-967EEFE44F26}"/>
              </a:ext>
            </a:extLst>
          </p:cNvPr>
          <p:cNvSpPr txBox="1"/>
          <p:nvPr/>
        </p:nvSpPr>
        <p:spPr>
          <a:xfrm>
            <a:off x="194945" y="2099351"/>
            <a:ext cx="10083800" cy="2537874"/>
          </a:xfrm>
          <a:prstGeom prst="rect">
            <a:avLst/>
          </a:prstGeom>
          <a:noFill/>
        </p:spPr>
        <p:txBody>
          <a:bodyPr wrap="square" rtlCol="0">
            <a:spAutoFit/>
          </a:bodyPr>
          <a:lstStyle/>
          <a:p>
            <a:pPr>
              <a:lnSpc>
                <a:spcPct val="150000"/>
              </a:lnSpc>
            </a:pPr>
            <a:r>
              <a:rPr lang="zh-CN" altLang="en-US" dirty="0"/>
              <a:t>我们为什么想脱离</a:t>
            </a:r>
            <a:r>
              <a:rPr lang="en-US" altLang="zh-CN" dirty="0"/>
              <a:t>sRGB</a:t>
            </a:r>
            <a:r>
              <a:rPr lang="zh-CN" altLang="en-US" dirty="0"/>
              <a:t>域，转而在</a:t>
            </a:r>
            <a:r>
              <a:rPr lang="en-US" altLang="zh-CN" dirty="0"/>
              <a:t>RAW</a:t>
            </a:r>
            <a:r>
              <a:rPr lang="zh-CN" altLang="en-US" dirty="0"/>
              <a:t>域做去噪呢？因为：</a:t>
            </a:r>
          </a:p>
          <a:p>
            <a:pPr>
              <a:lnSpc>
                <a:spcPct val="150000"/>
              </a:lnSpc>
            </a:pPr>
            <a:endParaRPr lang="zh-CN" altLang="en-US" dirty="0"/>
          </a:p>
          <a:p>
            <a:pPr marL="285750" indent="-285750">
              <a:lnSpc>
                <a:spcPct val="150000"/>
              </a:lnSpc>
              <a:buFont typeface="Arial" panose="020B0604020202020204" pitchFamily="34" charset="0"/>
              <a:buChar char="•"/>
            </a:pPr>
            <a:r>
              <a:rPr lang="en-US" altLang="zh-CN" dirty="0"/>
              <a:t>RAW</a:t>
            </a:r>
            <a:r>
              <a:rPr lang="zh-CN" altLang="en-US" dirty="0"/>
              <a:t>图的位宽更高，信息更丰富。你在屏幕上看到的图片大多是</a:t>
            </a:r>
            <a:r>
              <a:rPr lang="en-US" altLang="zh-CN" dirty="0"/>
              <a:t>8bit</a:t>
            </a:r>
            <a:r>
              <a:rPr lang="zh-CN" altLang="en-US" dirty="0"/>
              <a:t>的（</a:t>
            </a:r>
            <a:r>
              <a:rPr lang="en-US" altLang="zh-CN" dirty="0"/>
              <a:t>0~255</a:t>
            </a:r>
            <a:r>
              <a:rPr lang="zh-CN" altLang="en-US" dirty="0"/>
              <a:t>），手机拍摄的</a:t>
            </a:r>
            <a:r>
              <a:rPr lang="en-US" altLang="zh-CN" dirty="0"/>
              <a:t>RAW</a:t>
            </a:r>
            <a:r>
              <a:rPr lang="zh-CN" altLang="en-US" dirty="0"/>
              <a:t>图基本都是</a:t>
            </a:r>
            <a:r>
              <a:rPr lang="en-US" altLang="zh-CN" dirty="0"/>
              <a:t>10bit</a:t>
            </a:r>
            <a:r>
              <a:rPr lang="zh-CN" altLang="en-US" dirty="0"/>
              <a:t>的，好一些的摄像头一般是</a:t>
            </a:r>
            <a:r>
              <a:rPr lang="en-US" altLang="zh-CN" dirty="0"/>
              <a:t>12bit</a:t>
            </a:r>
            <a:r>
              <a:rPr lang="zh-CN" altLang="en-US" dirty="0"/>
              <a:t>的，相机一般是</a:t>
            </a:r>
            <a:r>
              <a:rPr lang="en-US" altLang="zh-CN" dirty="0"/>
              <a:t>14bit</a:t>
            </a:r>
            <a:r>
              <a:rPr lang="zh-CN" altLang="en-US" dirty="0"/>
              <a:t>的。</a:t>
            </a:r>
          </a:p>
          <a:p>
            <a:pPr marL="285750" indent="-285750">
              <a:lnSpc>
                <a:spcPct val="150000"/>
              </a:lnSpc>
              <a:buFont typeface="Arial" panose="020B0604020202020204" pitchFamily="34" charset="0"/>
              <a:buChar char="•"/>
            </a:pPr>
            <a:r>
              <a:rPr lang="zh-CN" altLang="en-US" dirty="0"/>
              <a:t>光强和信号值之间的关系基本上是线性。理论上图像提亮</a:t>
            </a:r>
            <a:r>
              <a:rPr lang="en-US" altLang="zh-CN" dirty="0"/>
              <a:t>2</a:t>
            </a:r>
            <a:r>
              <a:rPr lang="zh-CN" altLang="en-US" dirty="0"/>
              <a:t>倍只需要对信号直接</a:t>
            </a:r>
            <a:r>
              <a:rPr lang="en-US" altLang="zh-CN" dirty="0"/>
              <a:t>×2</a:t>
            </a:r>
            <a:r>
              <a:rPr lang="zh-CN" altLang="en-US" dirty="0"/>
              <a:t>。</a:t>
            </a:r>
          </a:p>
          <a:p>
            <a:pPr marL="285750" indent="-285750">
              <a:lnSpc>
                <a:spcPct val="150000"/>
              </a:lnSpc>
              <a:buFont typeface="Arial" panose="020B0604020202020204" pitchFamily="34" charset="0"/>
              <a:buChar char="•"/>
            </a:pPr>
            <a:r>
              <a:rPr lang="zh-CN" altLang="en-US" dirty="0"/>
              <a:t>噪声未经过</a:t>
            </a:r>
            <a:r>
              <a:rPr lang="en-US" altLang="zh-CN" dirty="0"/>
              <a:t>ISP</a:t>
            </a:r>
            <a:r>
              <a:rPr lang="zh-CN" altLang="en-US" dirty="0"/>
              <a:t>的各种非线性变化，是符合物理规律的，而这些物理规律部分特性已知。</a:t>
            </a:r>
            <a:endParaRPr lang="en-US" altLang="zh-CN" dirty="0"/>
          </a:p>
        </p:txBody>
      </p:sp>
      <p:sp>
        <p:nvSpPr>
          <p:cNvPr id="6" name="矩形 5">
            <a:extLst>
              <a:ext uri="{FF2B5EF4-FFF2-40B4-BE49-F238E27FC236}">
                <a16:creationId xmlns:a16="http://schemas.microsoft.com/office/drawing/2014/main" id="{DA9A9D33-33BD-BF53-ADB2-F0358287E6C9}"/>
              </a:ext>
            </a:extLst>
          </p:cNvPr>
          <p:cNvSpPr/>
          <p:nvPr/>
        </p:nvSpPr>
        <p:spPr>
          <a:xfrm>
            <a:off x="194945" y="1508564"/>
            <a:ext cx="6096000" cy="461665"/>
          </a:xfrm>
          <a:prstGeom prst="rect">
            <a:avLst/>
          </a:prstGeom>
        </p:spPr>
        <p:txBody>
          <a:bodyPr>
            <a:spAutoFit/>
          </a:bodyPr>
          <a:lstStyle/>
          <a:p>
            <a:r>
              <a:rPr lang="zh-CN" altLang="en-US" sz="2400" b="1" dirty="0">
                <a:solidFill>
                  <a:srgbClr val="000000"/>
                </a:solidFill>
                <a:latin typeface="NimbusRomNo9L-Medi"/>
              </a:rPr>
              <a:t>动机：</a:t>
            </a:r>
            <a:endParaRPr lang="zh-CN" altLang="en-US" sz="2400" b="1" dirty="0"/>
          </a:p>
        </p:txBody>
      </p:sp>
    </p:spTree>
    <p:extLst>
      <p:ext uri="{BB962C8B-B14F-4D97-AF65-F5344CB8AC3E}">
        <p14:creationId xmlns:p14="http://schemas.microsoft.com/office/powerpoint/2010/main" val="3155272158"/>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6</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5958BA61-08AB-013A-958F-6C1027E3647C}"/>
              </a:ext>
            </a:extLst>
          </p:cNvPr>
          <p:cNvPicPr>
            <a:picLocks noChangeAspect="1"/>
          </p:cNvPicPr>
          <p:nvPr/>
        </p:nvPicPr>
        <p:blipFill>
          <a:blip r:embed="rId4"/>
          <a:stretch>
            <a:fillRect/>
          </a:stretch>
        </p:blipFill>
        <p:spPr>
          <a:xfrm>
            <a:off x="2248397" y="979247"/>
            <a:ext cx="6938404" cy="2878378"/>
          </a:xfrm>
          <a:prstGeom prst="rect">
            <a:avLst/>
          </a:prstGeom>
        </p:spPr>
      </p:pic>
      <p:pic>
        <p:nvPicPr>
          <p:cNvPr id="8" name="图片 7">
            <a:extLst>
              <a:ext uri="{FF2B5EF4-FFF2-40B4-BE49-F238E27FC236}">
                <a16:creationId xmlns:a16="http://schemas.microsoft.com/office/drawing/2014/main" id="{99764EE8-9F76-2D62-FAD5-738D6F944752}"/>
              </a:ext>
            </a:extLst>
          </p:cNvPr>
          <p:cNvPicPr>
            <a:picLocks noChangeAspect="1"/>
          </p:cNvPicPr>
          <p:nvPr/>
        </p:nvPicPr>
        <p:blipFill>
          <a:blip r:embed="rId5"/>
          <a:stretch>
            <a:fillRect/>
          </a:stretch>
        </p:blipFill>
        <p:spPr>
          <a:xfrm>
            <a:off x="1703550" y="4179840"/>
            <a:ext cx="8410575" cy="2133600"/>
          </a:xfrm>
          <a:prstGeom prst="rect">
            <a:avLst/>
          </a:prstGeom>
        </p:spPr>
      </p:pic>
    </p:spTree>
    <p:extLst>
      <p:ext uri="{BB962C8B-B14F-4D97-AF65-F5344CB8AC3E}">
        <p14:creationId xmlns:p14="http://schemas.microsoft.com/office/powerpoint/2010/main" val="3111755748"/>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7</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5958BA61-08AB-013A-958F-6C1027E3647C}"/>
              </a:ext>
            </a:extLst>
          </p:cNvPr>
          <p:cNvPicPr>
            <a:picLocks noChangeAspect="1"/>
          </p:cNvPicPr>
          <p:nvPr/>
        </p:nvPicPr>
        <p:blipFill>
          <a:blip r:embed="rId4"/>
          <a:stretch>
            <a:fillRect/>
          </a:stretch>
        </p:blipFill>
        <p:spPr>
          <a:xfrm>
            <a:off x="2248397" y="979247"/>
            <a:ext cx="6938404" cy="2878378"/>
          </a:xfrm>
          <a:prstGeom prst="rect">
            <a:avLst/>
          </a:prstGeom>
        </p:spPr>
      </p:pic>
      <p:pic>
        <p:nvPicPr>
          <p:cNvPr id="5" name="图片 4">
            <a:extLst>
              <a:ext uri="{FF2B5EF4-FFF2-40B4-BE49-F238E27FC236}">
                <a16:creationId xmlns:a16="http://schemas.microsoft.com/office/drawing/2014/main" id="{AC4832FF-5409-7A01-5F69-8E39B0916DC3}"/>
              </a:ext>
            </a:extLst>
          </p:cNvPr>
          <p:cNvPicPr>
            <a:picLocks noChangeAspect="1"/>
          </p:cNvPicPr>
          <p:nvPr/>
        </p:nvPicPr>
        <p:blipFill>
          <a:blip r:embed="rId5"/>
          <a:stretch>
            <a:fillRect/>
          </a:stretch>
        </p:blipFill>
        <p:spPr>
          <a:xfrm>
            <a:off x="1900237" y="4290772"/>
            <a:ext cx="8391525" cy="2190750"/>
          </a:xfrm>
          <a:prstGeom prst="rect">
            <a:avLst/>
          </a:prstGeom>
        </p:spPr>
      </p:pic>
    </p:spTree>
    <p:extLst>
      <p:ext uri="{BB962C8B-B14F-4D97-AF65-F5344CB8AC3E}">
        <p14:creationId xmlns:p14="http://schemas.microsoft.com/office/powerpoint/2010/main" val="2281724389"/>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8</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5958BA61-08AB-013A-958F-6C1027E3647C}"/>
              </a:ext>
            </a:extLst>
          </p:cNvPr>
          <p:cNvPicPr>
            <a:picLocks noChangeAspect="1"/>
          </p:cNvPicPr>
          <p:nvPr/>
        </p:nvPicPr>
        <p:blipFill>
          <a:blip r:embed="rId4"/>
          <a:stretch>
            <a:fillRect/>
          </a:stretch>
        </p:blipFill>
        <p:spPr>
          <a:xfrm>
            <a:off x="2248397" y="979247"/>
            <a:ext cx="6938404" cy="2878378"/>
          </a:xfrm>
          <a:prstGeom prst="rect">
            <a:avLst/>
          </a:prstGeom>
        </p:spPr>
      </p:pic>
      <p:pic>
        <p:nvPicPr>
          <p:cNvPr id="8" name="图片 7">
            <a:extLst>
              <a:ext uri="{FF2B5EF4-FFF2-40B4-BE49-F238E27FC236}">
                <a16:creationId xmlns:a16="http://schemas.microsoft.com/office/drawing/2014/main" id="{6DEA9A91-BA1A-3B76-4B53-F62AF3A9D34F}"/>
              </a:ext>
            </a:extLst>
          </p:cNvPr>
          <p:cNvPicPr>
            <a:picLocks noChangeAspect="1"/>
          </p:cNvPicPr>
          <p:nvPr/>
        </p:nvPicPr>
        <p:blipFill>
          <a:blip r:embed="rId5"/>
          <a:stretch>
            <a:fillRect/>
          </a:stretch>
        </p:blipFill>
        <p:spPr>
          <a:xfrm>
            <a:off x="2462728" y="4396300"/>
            <a:ext cx="7633022" cy="1670624"/>
          </a:xfrm>
          <a:prstGeom prst="rect">
            <a:avLst/>
          </a:prstGeom>
        </p:spPr>
      </p:pic>
    </p:spTree>
    <p:extLst>
      <p:ext uri="{BB962C8B-B14F-4D97-AF65-F5344CB8AC3E}">
        <p14:creationId xmlns:p14="http://schemas.microsoft.com/office/powerpoint/2010/main" val="542193006"/>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CC119914-B51C-BFF0-D48B-1E1EFFD6C24E}"/>
              </a:ext>
            </a:extLst>
          </p:cNvPr>
          <p:cNvPicPr>
            <a:picLocks noChangeAspect="1"/>
          </p:cNvPicPr>
          <p:nvPr/>
        </p:nvPicPr>
        <p:blipFill>
          <a:blip r:embed="rId3"/>
          <a:stretch>
            <a:fillRect/>
          </a:stretch>
        </p:blipFill>
        <p:spPr>
          <a:xfrm>
            <a:off x="2597759" y="4516665"/>
            <a:ext cx="2124075" cy="476250"/>
          </a:xfrm>
          <a:prstGeom prst="rect">
            <a:avLst/>
          </a:prstGeom>
        </p:spPr>
      </p:pic>
      <p:pic>
        <p:nvPicPr>
          <p:cNvPr id="8" name="图片 7">
            <a:extLst>
              <a:ext uri="{FF2B5EF4-FFF2-40B4-BE49-F238E27FC236}">
                <a16:creationId xmlns:a16="http://schemas.microsoft.com/office/drawing/2014/main" id="{C4B7EF62-0797-4A05-C5BF-51AF3AEE3469}"/>
              </a:ext>
            </a:extLst>
          </p:cNvPr>
          <p:cNvPicPr>
            <a:picLocks noChangeAspect="1"/>
          </p:cNvPicPr>
          <p:nvPr/>
        </p:nvPicPr>
        <p:blipFill>
          <a:blip r:embed="rId4"/>
          <a:stretch>
            <a:fillRect/>
          </a:stretch>
        </p:blipFill>
        <p:spPr>
          <a:xfrm>
            <a:off x="4932564" y="4421415"/>
            <a:ext cx="4457700" cy="666750"/>
          </a:xfrm>
          <a:prstGeom prst="rect">
            <a:avLst/>
          </a:prstGeom>
        </p:spPr>
      </p:pic>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5"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9</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95508872-F50F-2DBC-6D40-DF997D210183}"/>
              </a:ext>
            </a:extLst>
          </p:cNvPr>
          <p:cNvPicPr>
            <a:picLocks noChangeAspect="1"/>
          </p:cNvPicPr>
          <p:nvPr/>
        </p:nvPicPr>
        <p:blipFill>
          <a:blip r:embed="rId6"/>
          <a:stretch>
            <a:fillRect/>
          </a:stretch>
        </p:blipFill>
        <p:spPr>
          <a:xfrm>
            <a:off x="944372" y="1925216"/>
            <a:ext cx="9360194" cy="2699745"/>
          </a:xfrm>
          <a:prstGeom prst="rect">
            <a:avLst/>
          </a:prstGeom>
        </p:spPr>
      </p:pic>
    </p:spTree>
    <p:extLst>
      <p:ext uri="{BB962C8B-B14F-4D97-AF65-F5344CB8AC3E}">
        <p14:creationId xmlns:p14="http://schemas.microsoft.com/office/powerpoint/2010/main" val="3574751043"/>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4B7EF62-0797-4A05-C5BF-51AF3AEE3469}"/>
              </a:ext>
            </a:extLst>
          </p:cNvPr>
          <p:cNvPicPr>
            <a:picLocks noChangeAspect="1"/>
          </p:cNvPicPr>
          <p:nvPr/>
        </p:nvPicPr>
        <p:blipFill>
          <a:blip r:embed="rId3"/>
          <a:stretch>
            <a:fillRect/>
          </a:stretch>
        </p:blipFill>
        <p:spPr>
          <a:xfrm>
            <a:off x="8144050" y="1682049"/>
            <a:ext cx="3854245" cy="576490"/>
          </a:xfrm>
          <a:prstGeom prst="rect">
            <a:avLst/>
          </a:prstGeom>
        </p:spPr>
      </p:pic>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10</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95508872-F50F-2DBC-6D40-DF997D210183}"/>
              </a:ext>
            </a:extLst>
          </p:cNvPr>
          <p:cNvPicPr>
            <a:picLocks noChangeAspect="1"/>
          </p:cNvPicPr>
          <p:nvPr/>
        </p:nvPicPr>
        <p:blipFill>
          <a:blip r:embed="rId5"/>
          <a:stretch>
            <a:fillRect/>
          </a:stretch>
        </p:blipFill>
        <p:spPr>
          <a:xfrm>
            <a:off x="299402" y="765137"/>
            <a:ext cx="8136559" cy="2346814"/>
          </a:xfrm>
          <a:prstGeom prst="rect">
            <a:avLst/>
          </a:prstGeom>
        </p:spPr>
      </p:pic>
      <p:pic>
        <p:nvPicPr>
          <p:cNvPr id="13" name="图片 12">
            <a:extLst>
              <a:ext uri="{FF2B5EF4-FFF2-40B4-BE49-F238E27FC236}">
                <a16:creationId xmlns:a16="http://schemas.microsoft.com/office/drawing/2014/main" id="{1B1ED21B-EFEC-611A-A459-D7B1C9C4FE92}"/>
              </a:ext>
            </a:extLst>
          </p:cNvPr>
          <p:cNvPicPr>
            <a:picLocks noChangeAspect="1"/>
          </p:cNvPicPr>
          <p:nvPr/>
        </p:nvPicPr>
        <p:blipFill>
          <a:blip r:embed="rId6"/>
          <a:stretch>
            <a:fillRect/>
          </a:stretch>
        </p:blipFill>
        <p:spPr>
          <a:xfrm>
            <a:off x="1326125" y="3349905"/>
            <a:ext cx="8458200" cy="2809875"/>
          </a:xfrm>
          <a:prstGeom prst="rect">
            <a:avLst/>
          </a:prstGeom>
        </p:spPr>
      </p:pic>
      <p:sp>
        <p:nvSpPr>
          <p:cNvPr id="14" name="矩形 13">
            <a:extLst>
              <a:ext uri="{FF2B5EF4-FFF2-40B4-BE49-F238E27FC236}">
                <a16:creationId xmlns:a16="http://schemas.microsoft.com/office/drawing/2014/main" id="{ADB09451-218C-9672-1112-823C435E935D}"/>
              </a:ext>
            </a:extLst>
          </p:cNvPr>
          <p:cNvSpPr/>
          <p:nvPr/>
        </p:nvSpPr>
        <p:spPr>
          <a:xfrm>
            <a:off x="496528" y="961854"/>
            <a:ext cx="1659194" cy="1324474"/>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04745625"/>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4B7EF62-0797-4A05-C5BF-51AF3AEE3469}"/>
              </a:ext>
            </a:extLst>
          </p:cNvPr>
          <p:cNvPicPr>
            <a:picLocks noChangeAspect="1"/>
          </p:cNvPicPr>
          <p:nvPr/>
        </p:nvPicPr>
        <p:blipFill>
          <a:blip r:embed="rId3"/>
          <a:stretch>
            <a:fillRect/>
          </a:stretch>
        </p:blipFill>
        <p:spPr>
          <a:xfrm>
            <a:off x="8144050" y="1682049"/>
            <a:ext cx="3854245" cy="576490"/>
          </a:xfrm>
          <a:prstGeom prst="rect">
            <a:avLst/>
          </a:prstGeom>
        </p:spPr>
      </p:pic>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11</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95508872-F50F-2DBC-6D40-DF997D210183}"/>
              </a:ext>
            </a:extLst>
          </p:cNvPr>
          <p:cNvPicPr>
            <a:picLocks noChangeAspect="1"/>
          </p:cNvPicPr>
          <p:nvPr/>
        </p:nvPicPr>
        <p:blipFill>
          <a:blip r:embed="rId5"/>
          <a:stretch>
            <a:fillRect/>
          </a:stretch>
        </p:blipFill>
        <p:spPr>
          <a:xfrm>
            <a:off x="299402" y="765137"/>
            <a:ext cx="8136559" cy="2346814"/>
          </a:xfrm>
          <a:prstGeom prst="rect">
            <a:avLst/>
          </a:prstGeom>
        </p:spPr>
      </p:pic>
      <p:pic>
        <p:nvPicPr>
          <p:cNvPr id="4" name="图片 3">
            <a:extLst>
              <a:ext uri="{FF2B5EF4-FFF2-40B4-BE49-F238E27FC236}">
                <a16:creationId xmlns:a16="http://schemas.microsoft.com/office/drawing/2014/main" id="{14515CDE-DD1B-AD73-2030-41CAC7094726}"/>
              </a:ext>
            </a:extLst>
          </p:cNvPr>
          <p:cNvPicPr>
            <a:picLocks noChangeAspect="1"/>
          </p:cNvPicPr>
          <p:nvPr/>
        </p:nvPicPr>
        <p:blipFill>
          <a:blip r:embed="rId6"/>
          <a:stretch>
            <a:fillRect/>
          </a:stretch>
        </p:blipFill>
        <p:spPr>
          <a:xfrm>
            <a:off x="46587" y="3141355"/>
            <a:ext cx="8458200" cy="1666875"/>
          </a:xfrm>
          <a:prstGeom prst="rect">
            <a:avLst/>
          </a:prstGeom>
        </p:spPr>
      </p:pic>
      <p:pic>
        <p:nvPicPr>
          <p:cNvPr id="7" name="图片 6">
            <a:extLst>
              <a:ext uri="{FF2B5EF4-FFF2-40B4-BE49-F238E27FC236}">
                <a16:creationId xmlns:a16="http://schemas.microsoft.com/office/drawing/2014/main" id="{E4E151EE-3E8E-5DC3-B2AD-C524EE5B828E}"/>
              </a:ext>
            </a:extLst>
          </p:cNvPr>
          <p:cNvPicPr>
            <a:picLocks noChangeAspect="1"/>
          </p:cNvPicPr>
          <p:nvPr/>
        </p:nvPicPr>
        <p:blipFill rotWithShape="1">
          <a:blip r:embed="rId7"/>
          <a:srcRect b="33439"/>
          <a:stretch/>
        </p:blipFill>
        <p:spPr>
          <a:xfrm>
            <a:off x="8558217" y="2922538"/>
            <a:ext cx="3476237" cy="1885692"/>
          </a:xfrm>
          <a:prstGeom prst="rect">
            <a:avLst/>
          </a:prstGeom>
        </p:spPr>
      </p:pic>
      <p:pic>
        <p:nvPicPr>
          <p:cNvPr id="10" name="图片 9">
            <a:extLst>
              <a:ext uri="{FF2B5EF4-FFF2-40B4-BE49-F238E27FC236}">
                <a16:creationId xmlns:a16="http://schemas.microsoft.com/office/drawing/2014/main" id="{8767459F-4554-4004-B95B-F8207EA871CF}"/>
              </a:ext>
            </a:extLst>
          </p:cNvPr>
          <p:cNvPicPr>
            <a:picLocks noChangeAspect="1"/>
          </p:cNvPicPr>
          <p:nvPr/>
        </p:nvPicPr>
        <p:blipFill>
          <a:blip r:embed="rId8"/>
          <a:stretch>
            <a:fillRect/>
          </a:stretch>
        </p:blipFill>
        <p:spPr>
          <a:xfrm>
            <a:off x="533400" y="5110306"/>
            <a:ext cx="2581275" cy="476250"/>
          </a:xfrm>
          <a:prstGeom prst="rect">
            <a:avLst/>
          </a:prstGeom>
        </p:spPr>
      </p:pic>
      <p:pic>
        <p:nvPicPr>
          <p:cNvPr id="14" name="图片 13">
            <a:extLst>
              <a:ext uri="{FF2B5EF4-FFF2-40B4-BE49-F238E27FC236}">
                <a16:creationId xmlns:a16="http://schemas.microsoft.com/office/drawing/2014/main" id="{178A5689-3F9C-5B0E-6597-DF204D6E13A6}"/>
              </a:ext>
            </a:extLst>
          </p:cNvPr>
          <p:cNvPicPr>
            <a:picLocks noChangeAspect="1"/>
          </p:cNvPicPr>
          <p:nvPr/>
        </p:nvPicPr>
        <p:blipFill>
          <a:blip r:embed="rId9"/>
          <a:stretch>
            <a:fillRect/>
          </a:stretch>
        </p:blipFill>
        <p:spPr>
          <a:xfrm>
            <a:off x="3232816" y="5165612"/>
            <a:ext cx="2619375" cy="438150"/>
          </a:xfrm>
          <a:prstGeom prst="rect">
            <a:avLst/>
          </a:prstGeom>
        </p:spPr>
      </p:pic>
      <p:sp>
        <p:nvSpPr>
          <p:cNvPr id="15" name="矩形 14">
            <a:extLst>
              <a:ext uri="{FF2B5EF4-FFF2-40B4-BE49-F238E27FC236}">
                <a16:creationId xmlns:a16="http://schemas.microsoft.com/office/drawing/2014/main" id="{89FEE2F2-7AEF-D202-9FF9-F8F7AAD7206F}"/>
              </a:ext>
            </a:extLst>
          </p:cNvPr>
          <p:cNvSpPr/>
          <p:nvPr/>
        </p:nvSpPr>
        <p:spPr>
          <a:xfrm>
            <a:off x="2050025" y="861793"/>
            <a:ext cx="4252452" cy="114398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76818476"/>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B7EC7C8D-606F-FFE7-9999-90EB71DAA95C}"/>
              </a:ext>
            </a:extLst>
          </p:cNvPr>
          <p:cNvPicPr>
            <a:picLocks noChangeAspect="1"/>
          </p:cNvPicPr>
          <p:nvPr/>
        </p:nvPicPr>
        <p:blipFill rotWithShape="1">
          <a:blip r:embed="rId3"/>
          <a:srcRect r="15483" b="24738"/>
          <a:stretch/>
        </p:blipFill>
        <p:spPr>
          <a:xfrm>
            <a:off x="7549175" y="3674998"/>
            <a:ext cx="4258562" cy="1742003"/>
          </a:xfrm>
          <a:prstGeom prst="rect">
            <a:avLst/>
          </a:prstGeom>
        </p:spPr>
      </p:pic>
      <p:pic>
        <p:nvPicPr>
          <p:cNvPr id="8" name="图片 7">
            <a:extLst>
              <a:ext uri="{FF2B5EF4-FFF2-40B4-BE49-F238E27FC236}">
                <a16:creationId xmlns:a16="http://schemas.microsoft.com/office/drawing/2014/main" id="{C4B7EF62-0797-4A05-C5BF-51AF3AEE3469}"/>
              </a:ext>
            </a:extLst>
          </p:cNvPr>
          <p:cNvPicPr>
            <a:picLocks noChangeAspect="1"/>
          </p:cNvPicPr>
          <p:nvPr/>
        </p:nvPicPr>
        <p:blipFill>
          <a:blip r:embed="rId4"/>
          <a:stretch>
            <a:fillRect/>
          </a:stretch>
        </p:blipFill>
        <p:spPr>
          <a:xfrm>
            <a:off x="8144050" y="1682049"/>
            <a:ext cx="3854245" cy="576490"/>
          </a:xfrm>
          <a:prstGeom prst="rect">
            <a:avLst/>
          </a:prstGeom>
        </p:spPr>
      </p:pic>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5"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12</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95508872-F50F-2DBC-6D40-DF997D210183}"/>
              </a:ext>
            </a:extLst>
          </p:cNvPr>
          <p:cNvPicPr>
            <a:picLocks noChangeAspect="1"/>
          </p:cNvPicPr>
          <p:nvPr/>
        </p:nvPicPr>
        <p:blipFill>
          <a:blip r:embed="rId6"/>
          <a:stretch>
            <a:fillRect/>
          </a:stretch>
        </p:blipFill>
        <p:spPr>
          <a:xfrm>
            <a:off x="299402" y="765137"/>
            <a:ext cx="8136559" cy="2346814"/>
          </a:xfrm>
          <a:prstGeom prst="rect">
            <a:avLst/>
          </a:prstGeom>
        </p:spPr>
      </p:pic>
      <p:pic>
        <p:nvPicPr>
          <p:cNvPr id="4" name="图片 3">
            <a:extLst>
              <a:ext uri="{FF2B5EF4-FFF2-40B4-BE49-F238E27FC236}">
                <a16:creationId xmlns:a16="http://schemas.microsoft.com/office/drawing/2014/main" id="{33A1286C-2819-2A3C-39C1-2634305AB435}"/>
              </a:ext>
            </a:extLst>
          </p:cNvPr>
          <p:cNvPicPr>
            <a:picLocks noChangeAspect="1"/>
          </p:cNvPicPr>
          <p:nvPr/>
        </p:nvPicPr>
        <p:blipFill>
          <a:blip r:embed="rId7"/>
          <a:stretch>
            <a:fillRect/>
          </a:stretch>
        </p:blipFill>
        <p:spPr>
          <a:xfrm>
            <a:off x="541249" y="3307900"/>
            <a:ext cx="1343025" cy="438150"/>
          </a:xfrm>
          <a:prstGeom prst="rect">
            <a:avLst/>
          </a:prstGeom>
        </p:spPr>
      </p:pic>
      <p:pic>
        <p:nvPicPr>
          <p:cNvPr id="7" name="图片 6">
            <a:extLst>
              <a:ext uri="{FF2B5EF4-FFF2-40B4-BE49-F238E27FC236}">
                <a16:creationId xmlns:a16="http://schemas.microsoft.com/office/drawing/2014/main" id="{88FCFE20-4F06-EE24-BEA6-2D1BE17A933F}"/>
              </a:ext>
            </a:extLst>
          </p:cNvPr>
          <p:cNvPicPr>
            <a:picLocks noChangeAspect="1"/>
          </p:cNvPicPr>
          <p:nvPr/>
        </p:nvPicPr>
        <p:blipFill>
          <a:blip r:embed="rId8"/>
          <a:stretch>
            <a:fillRect/>
          </a:stretch>
        </p:blipFill>
        <p:spPr>
          <a:xfrm>
            <a:off x="384263" y="3746050"/>
            <a:ext cx="7648575" cy="1857375"/>
          </a:xfrm>
          <a:prstGeom prst="rect">
            <a:avLst/>
          </a:prstGeom>
        </p:spPr>
      </p:pic>
      <p:sp>
        <p:nvSpPr>
          <p:cNvPr id="11" name="矩形 10">
            <a:extLst>
              <a:ext uri="{FF2B5EF4-FFF2-40B4-BE49-F238E27FC236}">
                <a16:creationId xmlns:a16="http://schemas.microsoft.com/office/drawing/2014/main" id="{3DD442A9-F26C-ACFF-CDA1-F2B1E69401B6}"/>
              </a:ext>
            </a:extLst>
          </p:cNvPr>
          <p:cNvSpPr/>
          <p:nvPr/>
        </p:nvSpPr>
        <p:spPr>
          <a:xfrm>
            <a:off x="2050025" y="861793"/>
            <a:ext cx="4252452" cy="114398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36164716"/>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4B7EF62-0797-4A05-C5BF-51AF3AEE3469}"/>
              </a:ext>
            </a:extLst>
          </p:cNvPr>
          <p:cNvPicPr>
            <a:picLocks noChangeAspect="1"/>
          </p:cNvPicPr>
          <p:nvPr/>
        </p:nvPicPr>
        <p:blipFill>
          <a:blip r:embed="rId3"/>
          <a:stretch>
            <a:fillRect/>
          </a:stretch>
        </p:blipFill>
        <p:spPr>
          <a:xfrm>
            <a:off x="8144050" y="1682049"/>
            <a:ext cx="3854245" cy="576490"/>
          </a:xfrm>
          <a:prstGeom prst="rect">
            <a:avLst/>
          </a:prstGeom>
        </p:spPr>
      </p:pic>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13</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95508872-F50F-2DBC-6D40-DF997D210183}"/>
              </a:ext>
            </a:extLst>
          </p:cNvPr>
          <p:cNvPicPr>
            <a:picLocks noChangeAspect="1"/>
          </p:cNvPicPr>
          <p:nvPr/>
        </p:nvPicPr>
        <p:blipFill>
          <a:blip r:embed="rId5"/>
          <a:stretch>
            <a:fillRect/>
          </a:stretch>
        </p:blipFill>
        <p:spPr>
          <a:xfrm>
            <a:off x="299402" y="765137"/>
            <a:ext cx="8136559" cy="2346814"/>
          </a:xfrm>
          <a:prstGeom prst="rect">
            <a:avLst/>
          </a:prstGeom>
        </p:spPr>
      </p:pic>
      <p:sp>
        <p:nvSpPr>
          <p:cNvPr id="3" name="矩形 2">
            <a:extLst>
              <a:ext uri="{FF2B5EF4-FFF2-40B4-BE49-F238E27FC236}">
                <a16:creationId xmlns:a16="http://schemas.microsoft.com/office/drawing/2014/main" id="{F56098C6-6E6B-410A-185D-E477F889BB03}"/>
              </a:ext>
            </a:extLst>
          </p:cNvPr>
          <p:cNvSpPr/>
          <p:nvPr/>
        </p:nvSpPr>
        <p:spPr>
          <a:xfrm>
            <a:off x="6309735" y="876068"/>
            <a:ext cx="2008355" cy="2014615"/>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FE401668-E223-C56B-2440-3BA7BBE9DB4F}"/>
              </a:ext>
            </a:extLst>
          </p:cNvPr>
          <p:cNvPicPr>
            <a:picLocks noChangeAspect="1"/>
          </p:cNvPicPr>
          <p:nvPr/>
        </p:nvPicPr>
        <p:blipFill>
          <a:blip r:embed="rId6"/>
          <a:stretch>
            <a:fillRect/>
          </a:stretch>
        </p:blipFill>
        <p:spPr>
          <a:xfrm>
            <a:off x="1066800" y="3807595"/>
            <a:ext cx="7620000" cy="1657350"/>
          </a:xfrm>
          <a:prstGeom prst="rect">
            <a:avLst/>
          </a:prstGeom>
        </p:spPr>
      </p:pic>
    </p:spTree>
    <p:extLst>
      <p:ext uri="{BB962C8B-B14F-4D97-AF65-F5344CB8AC3E}">
        <p14:creationId xmlns:p14="http://schemas.microsoft.com/office/powerpoint/2010/main" val="2128996309"/>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14</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6828377-7FDD-0107-148F-4B2C2372A50A}"/>
              </a:ext>
            </a:extLst>
          </p:cNvPr>
          <p:cNvSpPr txBox="1"/>
          <p:nvPr/>
        </p:nvSpPr>
        <p:spPr>
          <a:xfrm>
            <a:off x="457077" y="1134946"/>
            <a:ext cx="6946613"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b="1" dirty="0"/>
              <a:t>噪声的标定</a:t>
            </a:r>
          </a:p>
        </p:txBody>
      </p:sp>
      <p:sp>
        <p:nvSpPr>
          <p:cNvPr id="4" name="文本框 3">
            <a:extLst>
              <a:ext uri="{FF2B5EF4-FFF2-40B4-BE49-F238E27FC236}">
                <a16:creationId xmlns:a16="http://schemas.microsoft.com/office/drawing/2014/main" id="{7BB23EFE-1B2E-27C9-2780-9590E70FFFED}"/>
              </a:ext>
            </a:extLst>
          </p:cNvPr>
          <p:cNvSpPr txBox="1"/>
          <p:nvPr/>
        </p:nvSpPr>
        <p:spPr>
          <a:xfrm>
            <a:off x="299402" y="4585888"/>
            <a:ext cx="8883569" cy="646331"/>
          </a:xfrm>
          <a:prstGeom prst="rect">
            <a:avLst/>
          </a:prstGeom>
          <a:noFill/>
        </p:spPr>
        <p:txBody>
          <a:bodyPr wrap="square" rtlCol="0">
            <a:spAutoFit/>
          </a:bodyPr>
          <a:lstStyle/>
          <a:p>
            <a:r>
              <a:rPr lang="zh-CN" altLang="en-US" dirty="0"/>
              <a:t>对于</a:t>
            </a:r>
            <a:r>
              <a:rPr lang="en-US" altLang="zh-CN" dirty="0"/>
              <a:t>shot noise</a:t>
            </a:r>
            <a:r>
              <a:rPr lang="zh-CN" altLang="en-US" dirty="0"/>
              <a:t>，通过明场图像去拟合全局增益</a:t>
            </a:r>
            <a:r>
              <a:rPr lang="en-US" altLang="zh-CN" dirty="0"/>
              <a:t>K</a:t>
            </a:r>
          </a:p>
          <a:p>
            <a:r>
              <a:rPr lang="zh-CN" altLang="en-US" dirty="0"/>
              <a:t>对于</a:t>
            </a:r>
            <a:r>
              <a:rPr lang="en-US" altLang="zh-CN" dirty="0"/>
              <a:t>read noise</a:t>
            </a:r>
            <a:r>
              <a:rPr lang="zh-CN" altLang="en-US" dirty="0"/>
              <a:t>，通过大量暗场图像计算样本方差去拟合真实噪声方差</a:t>
            </a:r>
          </a:p>
        </p:txBody>
      </p:sp>
      <p:pic>
        <p:nvPicPr>
          <p:cNvPr id="7" name="图片 6">
            <a:extLst>
              <a:ext uri="{FF2B5EF4-FFF2-40B4-BE49-F238E27FC236}">
                <a16:creationId xmlns:a16="http://schemas.microsoft.com/office/drawing/2014/main" id="{52D7E9ED-2AEC-2F16-006E-EB19CAD9D5ED}"/>
              </a:ext>
            </a:extLst>
          </p:cNvPr>
          <p:cNvPicPr>
            <a:picLocks noChangeAspect="1"/>
          </p:cNvPicPr>
          <p:nvPr/>
        </p:nvPicPr>
        <p:blipFill>
          <a:blip r:embed="rId4"/>
          <a:stretch>
            <a:fillRect/>
          </a:stretch>
        </p:blipFill>
        <p:spPr>
          <a:xfrm>
            <a:off x="305151" y="1578941"/>
            <a:ext cx="8305449" cy="1816817"/>
          </a:xfrm>
          <a:prstGeom prst="rect">
            <a:avLst/>
          </a:prstGeom>
        </p:spPr>
      </p:pic>
      <p:pic>
        <p:nvPicPr>
          <p:cNvPr id="10" name="图片 9">
            <a:extLst>
              <a:ext uri="{FF2B5EF4-FFF2-40B4-BE49-F238E27FC236}">
                <a16:creationId xmlns:a16="http://schemas.microsoft.com/office/drawing/2014/main" id="{A4D56EF5-DB78-0CCB-37D9-0F3CB35B2BB4}"/>
              </a:ext>
            </a:extLst>
          </p:cNvPr>
          <p:cNvPicPr>
            <a:picLocks noChangeAspect="1"/>
          </p:cNvPicPr>
          <p:nvPr/>
        </p:nvPicPr>
        <p:blipFill>
          <a:blip r:embed="rId5"/>
          <a:stretch>
            <a:fillRect/>
          </a:stretch>
        </p:blipFill>
        <p:spPr>
          <a:xfrm>
            <a:off x="305151" y="3529995"/>
            <a:ext cx="2601114" cy="566500"/>
          </a:xfrm>
          <a:prstGeom prst="rect">
            <a:avLst/>
          </a:prstGeom>
        </p:spPr>
      </p:pic>
      <p:pic>
        <p:nvPicPr>
          <p:cNvPr id="13" name="图片 12">
            <a:extLst>
              <a:ext uri="{FF2B5EF4-FFF2-40B4-BE49-F238E27FC236}">
                <a16:creationId xmlns:a16="http://schemas.microsoft.com/office/drawing/2014/main" id="{3C53F6B3-92D1-7A53-E59A-9D445CCDA6D4}"/>
              </a:ext>
            </a:extLst>
          </p:cNvPr>
          <p:cNvPicPr>
            <a:picLocks noChangeAspect="1"/>
          </p:cNvPicPr>
          <p:nvPr/>
        </p:nvPicPr>
        <p:blipFill>
          <a:blip r:embed="rId6"/>
          <a:stretch>
            <a:fillRect/>
          </a:stretch>
        </p:blipFill>
        <p:spPr>
          <a:xfrm>
            <a:off x="2783758" y="3582228"/>
            <a:ext cx="2514600" cy="381000"/>
          </a:xfrm>
          <a:prstGeom prst="rect">
            <a:avLst/>
          </a:prstGeom>
        </p:spPr>
      </p:pic>
      <p:pic>
        <p:nvPicPr>
          <p:cNvPr id="15" name="图片 14">
            <a:extLst>
              <a:ext uri="{FF2B5EF4-FFF2-40B4-BE49-F238E27FC236}">
                <a16:creationId xmlns:a16="http://schemas.microsoft.com/office/drawing/2014/main" id="{18AD4871-9B9A-1DF8-9A29-AA05DC56C645}"/>
              </a:ext>
            </a:extLst>
          </p:cNvPr>
          <p:cNvPicPr>
            <a:picLocks noChangeAspect="1"/>
          </p:cNvPicPr>
          <p:nvPr/>
        </p:nvPicPr>
        <p:blipFill>
          <a:blip r:embed="rId7"/>
          <a:stretch>
            <a:fillRect/>
          </a:stretch>
        </p:blipFill>
        <p:spPr>
          <a:xfrm>
            <a:off x="7177679" y="3583934"/>
            <a:ext cx="2581275" cy="419100"/>
          </a:xfrm>
          <a:prstGeom prst="rect">
            <a:avLst/>
          </a:prstGeom>
        </p:spPr>
      </p:pic>
      <p:pic>
        <p:nvPicPr>
          <p:cNvPr id="17" name="图片 16">
            <a:extLst>
              <a:ext uri="{FF2B5EF4-FFF2-40B4-BE49-F238E27FC236}">
                <a16:creationId xmlns:a16="http://schemas.microsoft.com/office/drawing/2014/main" id="{7A122233-CFAB-3AF3-CEF3-1FDD145A3C2B}"/>
              </a:ext>
            </a:extLst>
          </p:cNvPr>
          <p:cNvPicPr>
            <a:picLocks noChangeAspect="1"/>
          </p:cNvPicPr>
          <p:nvPr/>
        </p:nvPicPr>
        <p:blipFill>
          <a:blip r:embed="rId8"/>
          <a:stretch>
            <a:fillRect/>
          </a:stretch>
        </p:blipFill>
        <p:spPr>
          <a:xfrm>
            <a:off x="5384872" y="3450584"/>
            <a:ext cx="1895475" cy="552450"/>
          </a:xfrm>
          <a:prstGeom prst="rect">
            <a:avLst/>
          </a:prstGeom>
        </p:spPr>
      </p:pic>
      <p:sp>
        <p:nvSpPr>
          <p:cNvPr id="19" name="文本框 18">
            <a:extLst>
              <a:ext uri="{FF2B5EF4-FFF2-40B4-BE49-F238E27FC236}">
                <a16:creationId xmlns:a16="http://schemas.microsoft.com/office/drawing/2014/main" id="{3CE1107F-81AF-A837-68D1-13928DFDCF59}"/>
              </a:ext>
            </a:extLst>
          </p:cNvPr>
          <p:cNvSpPr txBox="1"/>
          <p:nvPr/>
        </p:nvSpPr>
        <p:spPr>
          <a:xfrm>
            <a:off x="194945" y="6369796"/>
            <a:ext cx="9739333" cy="369332"/>
          </a:xfrm>
          <a:prstGeom prst="rect">
            <a:avLst/>
          </a:prstGeom>
          <a:noFill/>
        </p:spPr>
        <p:txBody>
          <a:bodyPr wrap="square">
            <a:spAutoFit/>
          </a:bodyPr>
          <a:lstStyle/>
          <a:p>
            <a:r>
              <a:rPr lang="en-US" altLang="zh-CN" b="0" dirty="0">
                <a:solidFill>
                  <a:srgbClr val="444444"/>
                </a:solidFill>
                <a:effectLst/>
                <a:latin typeface="Times New Roman" panose="02020603050405020304" pitchFamily="18" charset="0"/>
                <a:cs typeface="Times New Roman" panose="02020603050405020304" pitchFamily="18" charset="0"/>
              </a:rPr>
              <a:t> </a:t>
            </a:r>
            <a:r>
              <a:rPr lang="en-US" altLang="zh-CN" dirty="0">
                <a:solidFill>
                  <a:srgbClr val="444444"/>
                </a:solidFill>
                <a:latin typeface="Times New Roman" panose="02020603050405020304" pitchFamily="18" charset="0"/>
                <a:cs typeface="Times New Roman" panose="02020603050405020304" pitchFamily="18" charset="0"/>
              </a:rPr>
              <a:t>[1] </a:t>
            </a:r>
            <a:r>
              <a:rPr lang="en-US" altLang="zh-CN" b="0" dirty="0">
                <a:solidFill>
                  <a:srgbClr val="444444"/>
                </a:solidFill>
                <a:effectLst/>
                <a:latin typeface="Times New Roman" panose="02020603050405020304" pitchFamily="18" charset="0"/>
                <a:cs typeface="Times New Roman" panose="02020603050405020304" pitchFamily="18" charset="0"/>
              </a:rPr>
              <a:t>Radiometric CCD Camera Calibration and Noise Estimation</a:t>
            </a:r>
            <a:r>
              <a:rPr lang="en-US" altLang="zh-CN" dirty="0">
                <a:solidFill>
                  <a:srgbClr val="444444"/>
                </a:solidFill>
                <a:latin typeface="Times New Roman" panose="02020603050405020304" pitchFamily="18" charset="0"/>
                <a:cs typeface="Times New Roman" panose="02020603050405020304" pitchFamily="18" charset="0"/>
              </a:rPr>
              <a:t>.</a:t>
            </a:r>
            <a:r>
              <a:rPr lang="en-US" altLang="zh-CN" b="0" dirty="0">
                <a:solidFill>
                  <a:srgbClr val="444444"/>
                </a:solidFill>
                <a:effectLst/>
                <a:latin typeface="Times New Roman" panose="02020603050405020304" pitchFamily="18" charset="0"/>
                <a:cs typeface="Times New Roman" panose="02020603050405020304" pitchFamily="18" charset="0"/>
              </a:rPr>
              <a:t> TPAMI 1994</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4448462"/>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15</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6828377-7FDD-0107-148F-4B2C2372A50A}"/>
              </a:ext>
            </a:extLst>
          </p:cNvPr>
          <p:cNvSpPr txBox="1"/>
          <p:nvPr/>
        </p:nvSpPr>
        <p:spPr>
          <a:xfrm>
            <a:off x="457077" y="1134946"/>
            <a:ext cx="6946613"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b="1" dirty="0"/>
              <a:t>实验结果</a:t>
            </a:r>
          </a:p>
        </p:txBody>
      </p:sp>
      <p:pic>
        <p:nvPicPr>
          <p:cNvPr id="6" name="图片 5">
            <a:extLst>
              <a:ext uri="{FF2B5EF4-FFF2-40B4-BE49-F238E27FC236}">
                <a16:creationId xmlns:a16="http://schemas.microsoft.com/office/drawing/2014/main" id="{F630B3AC-A0D1-F936-2100-42E671C9F960}"/>
              </a:ext>
            </a:extLst>
          </p:cNvPr>
          <p:cNvPicPr>
            <a:picLocks noChangeAspect="1"/>
          </p:cNvPicPr>
          <p:nvPr/>
        </p:nvPicPr>
        <p:blipFill>
          <a:blip r:embed="rId4"/>
          <a:stretch>
            <a:fillRect/>
          </a:stretch>
        </p:blipFill>
        <p:spPr>
          <a:xfrm>
            <a:off x="4827639" y="1209878"/>
            <a:ext cx="6808070" cy="4984051"/>
          </a:xfrm>
          <a:prstGeom prst="rect">
            <a:avLst/>
          </a:prstGeom>
        </p:spPr>
      </p:pic>
      <p:sp>
        <p:nvSpPr>
          <p:cNvPr id="9" name="文本框 8">
            <a:extLst>
              <a:ext uri="{FF2B5EF4-FFF2-40B4-BE49-F238E27FC236}">
                <a16:creationId xmlns:a16="http://schemas.microsoft.com/office/drawing/2014/main" id="{6EEA2072-0AEA-8D48-0BEB-D28B698142A8}"/>
              </a:ext>
            </a:extLst>
          </p:cNvPr>
          <p:cNvSpPr txBox="1"/>
          <p:nvPr/>
        </p:nvSpPr>
        <p:spPr>
          <a:xfrm>
            <a:off x="643890" y="3244334"/>
            <a:ext cx="3871494" cy="369332"/>
          </a:xfrm>
          <a:prstGeom prst="rect">
            <a:avLst/>
          </a:prstGeom>
          <a:noFill/>
        </p:spPr>
        <p:txBody>
          <a:bodyPr wrap="square">
            <a:spAutoFit/>
          </a:bodyPr>
          <a:lstStyle/>
          <a:p>
            <a:r>
              <a:rPr lang="zh-CN" altLang="en-US" sz="1800" dirty="0"/>
              <a:t>标定好噪声参数后可以合成真实噪声</a:t>
            </a:r>
            <a:endParaRPr lang="zh-CN" altLang="en-US" dirty="0"/>
          </a:p>
        </p:txBody>
      </p:sp>
    </p:spTree>
    <p:extLst>
      <p:ext uri="{BB962C8B-B14F-4D97-AF65-F5344CB8AC3E}">
        <p14:creationId xmlns:p14="http://schemas.microsoft.com/office/powerpoint/2010/main" val="2192966993"/>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16</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6828377-7FDD-0107-148F-4B2C2372A50A}"/>
              </a:ext>
            </a:extLst>
          </p:cNvPr>
          <p:cNvSpPr txBox="1"/>
          <p:nvPr/>
        </p:nvSpPr>
        <p:spPr>
          <a:xfrm>
            <a:off x="457077" y="1134946"/>
            <a:ext cx="6946613"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b="1" dirty="0"/>
              <a:t>实验结果</a:t>
            </a:r>
          </a:p>
        </p:txBody>
      </p:sp>
      <p:pic>
        <p:nvPicPr>
          <p:cNvPr id="5" name="图片 4">
            <a:extLst>
              <a:ext uri="{FF2B5EF4-FFF2-40B4-BE49-F238E27FC236}">
                <a16:creationId xmlns:a16="http://schemas.microsoft.com/office/drawing/2014/main" id="{C146C58F-F83A-95BC-1EF9-921C8D84C22C}"/>
              </a:ext>
            </a:extLst>
          </p:cNvPr>
          <p:cNvPicPr>
            <a:picLocks noChangeAspect="1"/>
          </p:cNvPicPr>
          <p:nvPr/>
        </p:nvPicPr>
        <p:blipFill>
          <a:blip r:embed="rId4"/>
          <a:stretch>
            <a:fillRect/>
          </a:stretch>
        </p:blipFill>
        <p:spPr>
          <a:xfrm>
            <a:off x="5351210" y="1055590"/>
            <a:ext cx="5592394" cy="5483322"/>
          </a:xfrm>
          <a:prstGeom prst="rect">
            <a:avLst/>
          </a:prstGeom>
        </p:spPr>
      </p:pic>
      <p:sp>
        <p:nvSpPr>
          <p:cNvPr id="7" name="矩形 6">
            <a:extLst>
              <a:ext uri="{FF2B5EF4-FFF2-40B4-BE49-F238E27FC236}">
                <a16:creationId xmlns:a16="http://schemas.microsoft.com/office/drawing/2014/main" id="{E489BF4D-9943-C322-D899-7D7AC08B7C58}"/>
              </a:ext>
            </a:extLst>
          </p:cNvPr>
          <p:cNvSpPr/>
          <p:nvPr/>
        </p:nvSpPr>
        <p:spPr>
          <a:xfrm>
            <a:off x="5548156" y="4341736"/>
            <a:ext cx="5395448" cy="26959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95AC8E7-B706-54EC-E37E-FDA089DF549C}"/>
              </a:ext>
            </a:extLst>
          </p:cNvPr>
          <p:cNvSpPr txBox="1"/>
          <p:nvPr/>
        </p:nvSpPr>
        <p:spPr>
          <a:xfrm>
            <a:off x="457077" y="1698475"/>
            <a:ext cx="3871494" cy="1200329"/>
          </a:xfrm>
          <a:prstGeom prst="rect">
            <a:avLst/>
          </a:prstGeom>
          <a:noFill/>
        </p:spPr>
        <p:txBody>
          <a:bodyPr wrap="square">
            <a:spAutoFit/>
          </a:bodyPr>
          <a:lstStyle/>
          <a:p>
            <a:r>
              <a:rPr lang="zh-CN" altLang="en-US" sz="1800" dirty="0"/>
              <a:t>使用合成噪声训练网络的结果</a:t>
            </a:r>
            <a:endParaRPr lang="en-US" altLang="zh-CN" sz="1800" dirty="0"/>
          </a:p>
          <a:p>
            <a:endParaRPr lang="en-US" altLang="zh-CN" dirty="0"/>
          </a:p>
          <a:p>
            <a:r>
              <a:rPr lang="zh-CN" altLang="en-US" dirty="0"/>
              <a:t>在</a:t>
            </a:r>
            <a:r>
              <a:rPr lang="en-US" altLang="zh-CN" dirty="0"/>
              <a:t>SID</a:t>
            </a:r>
            <a:r>
              <a:rPr lang="zh-CN" altLang="en-US" dirty="0"/>
              <a:t>数据集上去得到比用真实成对数据训练得到的结果更好。</a:t>
            </a:r>
          </a:p>
        </p:txBody>
      </p:sp>
      <p:sp>
        <p:nvSpPr>
          <p:cNvPr id="13" name="文本框 12">
            <a:extLst>
              <a:ext uri="{FF2B5EF4-FFF2-40B4-BE49-F238E27FC236}">
                <a16:creationId xmlns:a16="http://schemas.microsoft.com/office/drawing/2014/main" id="{8C6B2B11-6453-0061-97F4-392F9AAE5088}"/>
              </a:ext>
            </a:extLst>
          </p:cNvPr>
          <p:cNvSpPr txBox="1"/>
          <p:nvPr/>
        </p:nvSpPr>
        <p:spPr>
          <a:xfrm>
            <a:off x="174828" y="4707391"/>
            <a:ext cx="4766186" cy="2031325"/>
          </a:xfrm>
          <a:prstGeom prst="rect">
            <a:avLst/>
          </a:prstGeom>
          <a:noFill/>
        </p:spPr>
        <p:txBody>
          <a:bodyPr wrap="square">
            <a:spAutoFit/>
          </a:bodyPr>
          <a:lstStyle/>
          <a:p>
            <a:r>
              <a:rPr lang="en-US" altLang="zh-CN" i="1" u="sng" dirty="0"/>
              <a:t>Note</a:t>
            </a:r>
            <a:r>
              <a:rPr lang="zh-CN" altLang="en-US" i="1" u="sng" dirty="0"/>
              <a:t>：</a:t>
            </a:r>
          </a:p>
          <a:p>
            <a:r>
              <a:rPr lang="zh-CN" altLang="en-US" i="1" u="sng" dirty="0"/>
              <a:t>之所以合成数据集能达到比直接使用成对数据训练结果更好就是因为 合成的噪声是基于物理模型标定好的，使得网络更容易学习到这个去噪的过程，而对于真实数据对的训练，因为真实噪声分布非常复杂，直接依靠网络端到端去学习会非常困难。</a:t>
            </a:r>
          </a:p>
        </p:txBody>
      </p:sp>
    </p:spTree>
    <p:extLst>
      <p:ext uri="{BB962C8B-B14F-4D97-AF65-F5344CB8AC3E}">
        <p14:creationId xmlns:p14="http://schemas.microsoft.com/office/powerpoint/2010/main" val="477681189"/>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17</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6828377-7FDD-0107-148F-4B2C2372A50A}"/>
              </a:ext>
            </a:extLst>
          </p:cNvPr>
          <p:cNvSpPr txBox="1"/>
          <p:nvPr/>
        </p:nvSpPr>
        <p:spPr>
          <a:xfrm>
            <a:off x="457077" y="1134946"/>
            <a:ext cx="6946613"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b="1" dirty="0"/>
              <a:t>实验结果</a:t>
            </a:r>
          </a:p>
        </p:txBody>
      </p:sp>
      <p:sp>
        <p:nvSpPr>
          <p:cNvPr id="9" name="文本框 8">
            <a:extLst>
              <a:ext uri="{FF2B5EF4-FFF2-40B4-BE49-F238E27FC236}">
                <a16:creationId xmlns:a16="http://schemas.microsoft.com/office/drawing/2014/main" id="{6EEA2072-0AEA-8D48-0BEB-D28B698142A8}"/>
              </a:ext>
            </a:extLst>
          </p:cNvPr>
          <p:cNvSpPr txBox="1"/>
          <p:nvPr/>
        </p:nvSpPr>
        <p:spPr>
          <a:xfrm>
            <a:off x="457077" y="1698475"/>
            <a:ext cx="3871494" cy="369332"/>
          </a:xfrm>
          <a:prstGeom prst="rect">
            <a:avLst/>
          </a:prstGeom>
          <a:noFill/>
        </p:spPr>
        <p:txBody>
          <a:bodyPr wrap="square">
            <a:spAutoFit/>
          </a:bodyPr>
          <a:lstStyle/>
          <a:p>
            <a:r>
              <a:rPr lang="zh-CN" altLang="en-US" sz="1800" dirty="0"/>
              <a:t>自建数据集</a:t>
            </a:r>
            <a:endParaRPr lang="zh-CN" altLang="en-US" dirty="0"/>
          </a:p>
        </p:txBody>
      </p:sp>
      <p:pic>
        <p:nvPicPr>
          <p:cNvPr id="7" name="图片 6">
            <a:extLst>
              <a:ext uri="{FF2B5EF4-FFF2-40B4-BE49-F238E27FC236}">
                <a16:creationId xmlns:a16="http://schemas.microsoft.com/office/drawing/2014/main" id="{0DBC3822-AC0A-7D95-E63A-E197995B1A04}"/>
              </a:ext>
            </a:extLst>
          </p:cNvPr>
          <p:cNvPicPr>
            <a:picLocks noChangeAspect="1"/>
          </p:cNvPicPr>
          <p:nvPr/>
        </p:nvPicPr>
        <p:blipFill>
          <a:blip r:embed="rId4"/>
          <a:stretch>
            <a:fillRect/>
          </a:stretch>
        </p:blipFill>
        <p:spPr>
          <a:xfrm>
            <a:off x="1703550" y="2232902"/>
            <a:ext cx="9461090" cy="4012516"/>
          </a:xfrm>
          <a:prstGeom prst="rect">
            <a:avLst/>
          </a:prstGeom>
        </p:spPr>
      </p:pic>
    </p:spTree>
    <p:extLst>
      <p:ext uri="{BB962C8B-B14F-4D97-AF65-F5344CB8AC3E}">
        <p14:creationId xmlns:p14="http://schemas.microsoft.com/office/powerpoint/2010/main" val="4224097735"/>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18</a:t>
            </a:fld>
            <a:endParaRPr lang="zh-CN" altLang="en-US"/>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6828377-7FDD-0107-148F-4B2C2372A50A}"/>
              </a:ext>
            </a:extLst>
          </p:cNvPr>
          <p:cNvSpPr txBox="1"/>
          <p:nvPr/>
        </p:nvSpPr>
        <p:spPr>
          <a:xfrm>
            <a:off x="457077" y="1134946"/>
            <a:ext cx="6946613"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b="1" dirty="0"/>
              <a:t>实验结果</a:t>
            </a:r>
          </a:p>
        </p:txBody>
      </p:sp>
      <p:sp>
        <p:nvSpPr>
          <p:cNvPr id="9" name="文本框 8">
            <a:extLst>
              <a:ext uri="{FF2B5EF4-FFF2-40B4-BE49-F238E27FC236}">
                <a16:creationId xmlns:a16="http://schemas.microsoft.com/office/drawing/2014/main" id="{6EEA2072-0AEA-8D48-0BEB-D28B698142A8}"/>
              </a:ext>
            </a:extLst>
          </p:cNvPr>
          <p:cNvSpPr txBox="1"/>
          <p:nvPr/>
        </p:nvSpPr>
        <p:spPr>
          <a:xfrm>
            <a:off x="457077" y="1698475"/>
            <a:ext cx="3871494" cy="369332"/>
          </a:xfrm>
          <a:prstGeom prst="rect">
            <a:avLst/>
          </a:prstGeom>
          <a:noFill/>
        </p:spPr>
        <p:txBody>
          <a:bodyPr wrap="square">
            <a:spAutoFit/>
          </a:bodyPr>
          <a:lstStyle/>
          <a:p>
            <a:r>
              <a:rPr lang="zh-CN" altLang="en-US" sz="1800" dirty="0"/>
              <a:t>自建数据集</a:t>
            </a:r>
            <a:endParaRPr lang="zh-CN" altLang="en-US" dirty="0"/>
          </a:p>
        </p:txBody>
      </p:sp>
      <p:pic>
        <p:nvPicPr>
          <p:cNvPr id="5" name="图片 4">
            <a:extLst>
              <a:ext uri="{FF2B5EF4-FFF2-40B4-BE49-F238E27FC236}">
                <a16:creationId xmlns:a16="http://schemas.microsoft.com/office/drawing/2014/main" id="{F386367A-3879-C963-E720-C1E7083BE4DD}"/>
              </a:ext>
            </a:extLst>
          </p:cNvPr>
          <p:cNvPicPr>
            <a:picLocks noChangeAspect="1"/>
          </p:cNvPicPr>
          <p:nvPr/>
        </p:nvPicPr>
        <p:blipFill>
          <a:blip r:embed="rId4"/>
          <a:stretch>
            <a:fillRect/>
          </a:stretch>
        </p:blipFill>
        <p:spPr>
          <a:xfrm>
            <a:off x="299402" y="2103807"/>
            <a:ext cx="11315913" cy="4252543"/>
          </a:xfrm>
          <a:prstGeom prst="rect">
            <a:avLst/>
          </a:prstGeom>
        </p:spPr>
      </p:pic>
    </p:spTree>
    <p:extLst>
      <p:ext uri="{BB962C8B-B14F-4D97-AF65-F5344CB8AC3E}">
        <p14:creationId xmlns:p14="http://schemas.microsoft.com/office/powerpoint/2010/main" val="2504811124"/>
      </p:ext>
    </p:extLst>
  </p:cSld>
  <p:clrMapOvr>
    <a:masterClrMapping/>
  </p:clrMapOvr>
  <mc:AlternateContent xmlns:mc="http://schemas.openxmlformats.org/markup-compatibility/2006">
    <mc:Choice xmlns:p14="http://schemas.microsoft.com/office/powerpoint/2010/main" Requires="p14">
      <p:transition spd="slow" p14:dur="2000" advTm="52641"/>
    </mc:Choice>
    <mc:Fallback>
      <p:transition spd="slow" advTm="5264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t="22098" r="14726" b="48018"/>
          <a:stretch>
            <a:fillRect/>
          </a:stretch>
        </p:blipFill>
        <p:spPr>
          <a:xfrm>
            <a:off x="6321176" y="2686649"/>
            <a:ext cx="5870824" cy="1542449"/>
          </a:xfrm>
          <a:prstGeom prst="rect">
            <a:avLst/>
          </a:prstGeom>
        </p:spPr>
      </p:pic>
      <p:sp>
        <p:nvSpPr>
          <p:cNvPr id="18" name="矩形 17"/>
          <p:cNvSpPr/>
          <p:nvPr/>
        </p:nvSpPr>
        <p:spPr>
          <a:xfrm>
            <a:off x="2857500" y="2686049"/>
            <a:ext cx="9334500" cy="1543049"/>
          </a:xfrm>
          <a:prstGeom prst="rect">
            <a:avLst/>
          </a:prstGeom>
          <a:gradFill flip="none" rotWithShape="1">
            <a:gsLst>
              <a:gs pos="35000">
                <a:srgbClr val="014924"/>
              </a:gs>
              <a:gs pos="0">
                <a:srgbClr val="014924"/>
              </a:gs>
              <a:gs pos="59000">
                <a:srgbClr val="014924">
                  <a:alpha val="95000"/>
                </a:srgbClr>
              </a:gs>
              <a:gs pos="77000">
                <a:srgbClr val="014924">
                  <a:alpha val="70000"/>
                </a:srgbClr>
              </a:gs>
              <a:gs pos="100000">
                <a:srgbClr val="014924">
                  <a:alpha val="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a:solidFill>
            <a:srgbClr val="014924"/>
          </a:solidFill>
        </p:grpSpPr>
        <p:sp>
          <p:nvSpPr>
            <p:cNvPr id="9" name="矩形 8"/>
            <p:cNvSpPr/>
            <p:nvPr/>
          </p:nvSpPr>
          <p:spPr>
            <a:xfrm>
              <a:off x="1123950" y="2686050"/>
              <a:ext cx="1543050" cy="15430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407285" y="2903577"/>
              <a:ext cx="976380" cy="1107996"/>
            </a:xfrm>
            <a:prstGeom prst="rect">
              <a:avLst/>
            </a:prstGeom>
            <a:grp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3</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6" name="文本框 15"/>
          <p:cNvSpPr txBox="1"/>
          <p:nvPr/>
        </p:nvSpPr>
        <p:spPr>
          <a:xfrm>
            <a:off x="2950335" y="3226742"/>
            <a:ext cx="2989144" cy="461661"/>
          </a:xfrm>
          <a:prstGeom prst="rect">
            <a:avLst/>
          </a:prstGeom>
          <a:noFill/>
        </p:spPr>
        <p:txBody>
          <a:bodyPr wrap="none" lIns="91436" tIns="45718" rIns="91436" bIns="45718"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Latest related work</a:t>
            </a:r>
          </a:p>
        </p:txBody>
      </p:sp>
      <p:pic>
        <p:nvPicPr>
          <p:cNvPr id="12" name="图片 11"/>
          <p:cNvPicPr>
            <a:picLocks noChangeAspect="1"/>
          </p:cNvPicPr>
          <p:nvPr/>
        </p:nvPicPr>
        <p:blipFill rotWithShape="1">
          <a:blip r:embed="rId4"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
        <p:nvSpPr>
          <p:cNvPr id="3" name="灯片编号占位符 2">
            <a:extLst>
              <a:ext uri="{FF2B5EF4-FFF2-40B4-BE49-F238E27FC236}">
                <a16:creationId xmlns:a16="http://schemas.microsoft.com/office/drawing/2014/main" id="{908CE4D1-9F12-4372-8BF5-5D9305DE4E5C}"/>
              </a:ext>
            </a:extLst>
          </p:cNvPr>
          <p:cNvSpPr>
            <a:spLocks noGrp="1"/>
          </p:cNvSpPr>
          <p:nvPr>
            <p:ph type="sldNum" sz="quarter" idx="12"/>
          </p:nvPr>
        </p:nvSpPr>
        <p:spPr/>
        <p:txBody>
          <a:bodyPr/>
          <a:lstStyle/>
          <a:p>
            <a:fld id="{01635508-54A0-4FB0-A4C5-6467DE85E924}" type="slidenum">
              <a:rPr lang="zh-CN" altLang="en-US" smtClean="0"/>
              <a:t>19</a:t>
            </a:fld>
            <a:endParaRPr lang="zh-CN" altLang="en-US"/>
          </a:p>
        </p:txBody>
      </p:sp>
    </p:spTree>
    <p:extLst>
      <p:ext uri="{BB962C8B-B14F-4D97-AF65-F5344CB8AC3E}">
        <p14:creationId xmlns:p14="http://schemas.microsoft.com/office/powerpoint/2010/main" val="2806254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20</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194945" y="933396"/>
            <a:ext cx="10568709" cy="461665"/>
          </a:xfrm>
          <a:prstGeom prst="rect">
            <a:avLst/>
          </a:prstGeom>
          <a:noFill/>
        </p:spPr>
        <p:txBody>
          <a:bodyPr wrap="square" rtlCol="0">
            <a:spAutoFit/>
          </a:bodyPr>
          <a:lstStyle/>
          <a:p>
            <a:pPr algn="l"/>
            <a:r>
              <a:rPr lang="en-US" altLang="zh-CN" sz="2400" b="1" i="0" dirty="0">
                <a:solidFill>
                  <a:srgbClr val="121212"/>
                </a:solidFill>
                <a:effectLst/>
                <a:latin typeface="-apple-system"/>
              </a:rPr>
              <a:t>[ICCV2021] Rethinking Noise Synthesis and Modeling in Raw Denoising</a:t>
            </a:r>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733826A6-637A-4367-B614-3AB26DEA0953}"/>
              </a:ext>
            </a:extLst>
          </p:cNvPr>
          <p:cNvSpPr txBox="1"/>
          <p:nvPr/>
        </p:nvSpPr>
        <p:spPr>
          <a:xfrm>
            <a:off x="194945" y="1395116"/>
            <a:ext cx="11993989" cy="1200329"/>
          </a:xfrm>
          <a:prstGeom prst="rect">
            <a:avLst/>
          </a:prstGeom>
          <a:noFill/>
        </p:spPr>
        <p:txBody>
          <a:bodyPr wrap="none" rtlCol="0">
            <a:spAutoFit/>
          </a:bodyPr>
          <a:lstStyle/>
          <a:p>
            <a:r>
              <a:rPr lang="zh-CN" altLang="en-US" dirty="0"/>
              <a:t>两大贡献：</a:t>
            </a:r>
            <a:endParaRPr lang="en-US" altLang="zh-CN" dirty="0"/>
          </a:p>
          <a:p>
            <a:pPr marL="285750" indent="-285750">
              <a:buFont typeface="Arial" panose="020B0604020202020204" pitchFamily="34" charset="0"/>
              <a:buChar char="•"/>
            </a:pPr>
            <a:r>
              <a:rPr lang="zh-CN" altLang="en-US" dirty="0"/>
              <a:t>提出了标定出来的合成噪声仍然不真实，直接从真实噪声里采样会更好。</a:t>
            </a:r>
            <a:endParaRPr lang="en-US" altLang="zh-CN" dirty="0"/>
          </a:p>
          <a:p>
            <a:pPr marL="285750" indent="-285750">
              <a:buFont typeface="Arial" panose="020B0604020202020204" pitchFamily="34" charset="0"/>
              <a:buChar char="•"/>
            </a:pPr>
            <a:r>
              <a:rPr lang="zh-CN" altLang="en-US" dirty="0"/>
              <a:t>作者发现目前基于</a:t>
            </a:r>
            <a:r>
              <a:rPr lang="en-US" altLang="zh-CN" dirty="0"/>
              <a:t>DNN</a:t>
            </a:r>
            <a:r>
              <a:rPr lang="zh-CN" altLang="en-US" dirty="0"/>
              <a:t>去噪工作在对比传统标定方法的时候，给错了传统标定算法的标定参数（因为相机本身输出</a:t>
            </a:r>
            <a:endParaRPr lang="en-US" altLang="zh-CN" dirty="0"/>
          </a:p>
          <a:p>
            <a:r>
              <a:rPr lang="zh-CN" altLang="en-US" dirty="0"/>
              <a:t>的参数不准确），作者重新复现了标定过程发现基于标定的算法效果远好于基于</a:t>
            </a:r>
            <a:r>
              <a:rPr lang="en-US" altLang="zh-CN" dirty="0"/>
              <a:t>DNN </a:t>
            </a:r>
            <a:r>
              <a:rPr lang="zh-CN" altLang="en-US" dirty="0"/>
              <a:t>的方法。</a:t>
            </a:r>
          </a:p>
        </p:txBody>
      </p:sp>
      <p:pic>
        <p:nvPicPr>
          <p:cNvPr id="7" name="图片 6">
            <a:extLst>
              <a:ext uri="{FF2B5EF4-FFF2-40B4-BE49-F238E27FC236}">
                <a16:creationId xmlns:a16="http://schemas.microsoft.com/office/drawing/2014/main" id="{04CD8ACF-6B82-D891-3272-0A78E582D12D}"/>
              </a:ext>
            </a:extLst>
          </p:cNvPr>
          <p:cNvPicPr>
            <a:picLocks noChangeAspect="1"/>
          </p:cNvPicPr>
          <p:nvPr/>
        </p:nvPicPr>
        <p:blipFill>
          <a:blip r:embed="rId4"/>
          <a:stretch>
            <a:fillRect/>
          </a:stretch>
        </p:blipFill>
        <p:spPr>
          <a:xfrm>
            <a:off x="1984629" y="2677081"/>
            <a:ext cx="7884960" cy="3963428"/>
          </a:xfrm>
          <a:prstGeom prst="rect">
            <a:avLst/>
          </a:prstGeom>
        </p:spPr>
      </p:pic>
    </p:spTree>
    <p:extLst>
      <p:ext uri="{BB962C8B-B14F-4D97-AF65-F5344CB8AC3E}">
        <p14:creationId xmlns:p14="http://schemas.microsoft.com/office/powerpoint/2010/main" val="1686886601"/>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21</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194945" y="933396"/>
            <a:ext cx="10568709" cy="461665"/>
          </a:xfrm>
          <a:prstGeom prst="rect">
            <a:avLst/>
          </a:prstGeom>
          <a:noFill/>
        </p:spPr>
        <p:txBody>
          <a:bodyPr wrap="square" rtlCol="0">
            <a:spAutoFit/>
          </a:bodyPr>
          <a:lstStyle/>
          <a:p>
            <a:pPr algn="l"/>
            <a:r>
              <a:rPr lang="en-US" altLang="zh-CN" sz="2400" b="1" dirty="0">
                <a:solidFill>
                  <a:srgbClr val="121212"/>
                </a:solidFill>
                <a:latin typeface="-apple-system"/>
              </a:rPr>
              <a:t>[CVPR 2022 ] </a:t>
            </a:r>
            <a:r>
              <a:rPr lang="en-US" altLang="zh-CN" sz="2400" b="1" i="0" dirty="0">
                <a:solidFill>
                  <a:srgbClr val="121212"/>
                </a:solidFill>
                <a:effectLst/>
                <a:latin typeface="-apple-system"/>
              </a:rPr>
              <a:t>Dancing under the stars: video denoising in starlight</a:t>
            </a:r>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733826A6-637A-4367-B614-3AB26DEA0953}"/>
              </a:ext>
            </a:extLst>
          </p:cNvPr>
          <p:cNvSpPr txBox="1"/>
          <p:nvPr/>
        </p:nvSpPr>
        <p:spPr>
          <a:xfrm>
            <a:off x="234233" y="1661707"/>
            <a:ext cx="2228495" cy="369332"/>
          </a:xfrm>
          <a:prstGeom prst="rect">
            <a:avLst/>
          </a:prstGeom>
          <a:noFill/>
        </p:spPr>
        <p:txBody>
          <a:bodyPr wrap="none" rtlCol="0">
            <a:spAutoFit/>
          </a:bodyPr>
          <a:lstStyle/>
          <a:p>
            <a:r>
              <a:rPr lang="zh-CN" altLang="en-US" dirty="0"/>
              <a:t>使用</a:t>
            </a:r>
            <a:r>
              <a:rPr lang="en-US" altLang="zh-CN" dirty="0"/>
              <a:t>GAN</a:t>
            </a:r>
            <a:r>
              <a:rPr lang="zh-CN" altLang="en-US" dirty="0"/>
              <a:t>来合成噪声</a:t>
            </a:r>
          </a:p>
        </p:txBody>
      </p:sp>
      <p:pic>
        <p:nvPicPr>
          <p:cNvPr id="4" name="图片 3">
            <a:extLst>
              <a:ext uri="{FF2B5EF4-FFF2-40B4-BE49-F238E27FC236}">
                <a16:creationId xmlns:a16="http://schemas.microsoft.com/office/drawing/2014/main" id="{02B168F1-4F7A-FAB1-0114-73406AC06C7F}"/>
              </a:ext>
            </a:extLst>
          </p:cNvPr>
          <p:cNvPicPr>
            <a:picLocks noChangeAspect="1"/>
          </p:cNvPicPr>
          <p:nvPr/>
        </p:nvPicPr>
        <p:blipFill>
          <a:blip r:embed="rId4"/>
          <a:stretch>
            <a:fillRect/>
          </a:stretch>
        </p:blipFill>
        <p:spPr>
          <a:xfrm>
            <a:off x="249907" y="2567258"/>
            <a:ext cx="11692185" cy="3051063"/>
          </a:xfrm>
          <a:prstGeom prst="rect">
            <a:avLst/>
          </a:prstGeom>
        </p:spPr>
      </p:pic>
    </p:spTree>
    <p:extLst>
      <p:ext uri="{BB962C8B-B14F-4D97-AF65-F5344CB8AC3E}">
        <p14:creationId xmlns:p14="http://schemas.microsoft.com/office/powerpoint/2010/main" val="964076035"/>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22</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194945" y="933396"/>
            <a:ext cx="10568709" cy="461665"/>
          </a:xfrm>
          <a:prstGeom prst="rect">
            <a:avLst/>
          </a:prstGeom>
          <a:noFill/>
        </p:spPr>
        <p:txBody>
          <a:bodyPr wrap="square" rtlCol="0">
            <a:spAutoFit/>
          </a:bodyPr>
          <a:lstStyle/>
          <a:p>
            <a:pPr algn="l"/>
            <a:r>
              <a:rPr lang="en-US" altLang="zh-CN" sz="2400" b="1" dirty="0">
                <a:solidFill>
                  <a:srgbClr val="121212"/>
                </a:solidFill>
                <a:latin typeface="-apple-system"/>
              </a:rPr>
              <a:t>[CVPR 2023 ] </a:t>
            </a:r>
            <a:r>
              <a:rPr lang="en-US" altLang="zh-CN" sz="2400" b="1" i="0" dirty="0">
                <a:solidFill>
                  <a:srgbClr val="121212"/>
                </a:solidFill>
                <a:effectLst/>
                <a:latin typeface="-apple-system"/>
              </a:rPr>
              <a:t>DNF: Decouple and Feedback Network for Seeing in the Dark</a:t>
            </a:r>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733826A6-637A-4367-B614-3AB26DEA0953}"/>
              </a:ext>
            </a:extLst>
          </p:cNvPr>
          <p:cNvSpPr txBox="1"/>
          <p:nvPr/>
        </p:nvSpPr>
        <p:spPr>
          <a:xfrm>
            <a:off x="234233" y="1661707"/>
            <a:ext cx="6997493" cy="369332"/>
          </a:xfrm>
          <a:prstGeom prst="rect">
            <a:avLst/>
          </a:prstGeom>
          <a:noFill/>
        </p:spPr>
        <p:txBody>
          <a:bodyPr wrap="none" rtlCol="0">
            <a:spAutoFit/>
          </a:bodyPr>
          <a:lstStyle/>
          <a:p>
            <a:r>
              <a:rPr lang="zh-CN" altLang="en-US" dirty="0"/>
              <a:t>提出一种</a:t>
            </a:r>
            <a:r>
              <a:rPr lang="en-US" altLang="zh-CN" dirty="0"/>
              <a:t>raw</a:t>
            </a:r>
            <a:r>
              <a:rPr lang="zh-CN" altLang="en-US" dirty="0"/>
              <a:t>去噪的模型框架，引入中间未解马赛克的无噪图做监督</a:t>
            </a:r>
          </a:p>
        </p:txBody>
      </p:sp>
      <p:pic>
        <p:nvPicPr>
          <p:cNvPr id="5" name="图片 4">
            <a:extLst>
              <a:ext uri="{FF2B5EF4-FFF2-40B4-BE49-F238E27FC236}">
                <a16:creationId xmlns:a16="http://schemas.microsoft.com/office/drawing/2014/main" id="{0E23FC18-9619-D11F-EC2D-79A168E64B0B}"/>
              </a:ext>
            </a:extLst>
          </p:cNvPr>
          <p:cNvPicPr>
            <a:picLocks noChangeAspect="1"/>
          </p:cNvPicPr>
          <p:nvPr/>
        </p:nvPicPr>
        <p:blipFill>
          <a:blip r:embed="rId4"/>
          <a:stretch>
            <a:fillRect/>
          </a:stretch>
        </p:blipFill>
        <p:spPr>
          <a:xfrm>
            <a:off x="944372" y="2191345"/>
            <a:ext cx="10155022" cy="4449164"/>
          </a:xfrm>
          <a:prstGeom prst="rect">
            <a:avLst/>
          </a:prstGeom>
        </p:spPr>
      </p:pic>
    </p:spTree>
    <p:extLst>
      <p:ext uri="{BB962C8B-B14F-4D97-AF65-F5344CB8AC3E}">
        <p14:creationId xmlns:p14="http://schemas.microsoft.com/office/powerpoint/2010/main" val="3803645957"/>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23</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194945" y="933396"/>
            <a:ext cx="11692185" cy="461665"/>
          </a:xfrm>
          <a:prstGeom prst="rect">
            <a:avLst/>
          </a:prstGeom>
          <a:noFill/>
        </p:spPr>
        <p:txBody>
          <a:bodyPr wrap="square" rtlCol="0">
            <a:spAutoFit/>
          </a:bodyPr>
          <a:lstStyle/>
          <a:p>
            <a:pPr algn="l"/>
            <a:r>
              <a:rPr lang="en-US" altLang="zh-CN" sz="2400" b="1" dirty="0">
                <a:solidFill>
                  <a:srgbClr val="121212"/>
                </a:solidFill>
                <a:latin typeface="-apple-system"/>
              </a:rPr>
              <a:t>[ICCV 2023 ] </a:t>
            </a:r>
            <a:r>
              <a:rPr lang="en-US" altLang="zh-CN" sz="2400" b="1" i="0" dirty="0" err="1">
                <a:solidFill>
                  <a:srgbClr val="121212"/>
                </a:solidFill>
                <a:effectLst/>
                <a:latin typeface="-apple-system"/>
              </a:rPr>
              <a:t>ExposureDiffusion</a:t>
            </a:r>
            <a:r>
              <a:rPr lang="en-US" altLang="zh-CN" sz="2400" b="1" i="0" dirty="0">
                <a:solidFill>
                  <a:srgbClr val="121212"/>
                </a:solidFill>
                <a:effectLst/>
                <a:latin typeface="-apple-system"/>
              </a:rPr>
              <a:t>: Learning to Expose for Low-light Image Enhancement</a:t>
            </a:r>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733826A6-637A-4367-B614-3AB26DEA0953}"/>
              </a:ext>
            </a:extLst>
          </p:cNvPr>
          <p:cNvSpPr txBox="1"/>
          <p:nvPr/>
        </p:nvSpPr>
        <p:spPr>
          <a:xfrm>
            <a:off x="234233" y="1661707"/>
            <a:ext cx="8613320" cy="369332"/>
          </a:xfrm>
          <a:prstGeom prst="rect">
            <a:avLst/>
          </a:prstGeom>
          <a:noFill/>
        </p:spPr>
        <p:txBody>
          <a:bodyPr wrap="none" rtlCol="0">
            <a:spAutoFit/>
          </a:bodyPr>
          <a:lstStyle/>
          <a:p>
            <a:r>
              <a:rPr lang="zh-CN" altLang="en-US" dirty="0"/>
              <a:t>引入扩散模型做</a:t>
            </a:r>
            <a:r>
              <a:rPr lang="en-US" altLang="zh-CN" dirty="0"/>
              <a:t>raw</a:t>
            </a:r>
            <a:r>
              <a:rPr lang="zh-CN" altLang="en-US" dirty="0"/>
              <a:t>降噪，将扩撒模型加噪降噪的过程和相机过程中的噪声结合起来</a:t>
            </a:r>
          </a:p>
        </p:txBody>
      </p:sp>
      <p:pic>
        <p:nvPicPr>
          <p:cNvPr id="5" name="图片 4">
            <a:extLst>
              <a:ext uri="{FF2B5EF4-FFF2-40B4-BE49-F238E27FC236}">
                <a16:creationId xmlns:a16="http://schemas.microsoft.com/office/drawing/2014/main" id="{9CB75C59-9A87-705A-58BE-60486DA698DA}"/>
              </a:ext>
            </a:extLst>
          </p:cNvPr>
          <p:cNvPicPr>
            <a:picLocks noChangeAspect="1"/>
          </p:cNvPicPr>
          <p:nvPr/>
        </p:nvPicPr>
        <p:blipFill>
          <a:blip r:embed="rId4"/>
          <a:stretch>
            <a:fillRect/>
          </a:stretch>
        </p:blipFill>
        <p:spPr>
          <a:xfrm>
            <a:off x="234233" y="2631350"/>
            <a:ext cx="11192665" cy="3124688"/>
          </a:xfrm>
          <a:prstGeom prst="rect">
            <a:avLst/>
          </a:prstGeom>
        </p:spPr>
      </p:pic>
    </p:spTree>
    <p:extLst>
      <p:ext uri="{BB962C8B-B14F-4D97-AF65-F5344CB8AC3E}">
        <p14:creationId xmlns:p14="http://schemas.microsoft.com/office/powerpoint/2010/main" val="36934046"/>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24</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194945" y="933396"/>
            <a:ext cx="11692185" cy="461665"/>
          </a:xfrm>
          <a:prstGeom prst="rect">
            <a:avLst/>
          </a:prstGeom>
          <a:noFill/>
        </p:spPr>
        <p:txBody>
          <a:bodyPr wrap="square" rtlCol="0">
            <a:spAutoFit/>
          </a:bodyPr>
          <a:lstStyle/>
          <a:p>
            <a:pPr algn="l"/>
            <a:r>
              <a:rPr lang="en-US" altLang="zh-CN" sz="2400" b="1" dirty="0">
                <a:solidFill>
                  <a:srgbClr val="121212"/>
                </a:solidFill>
                <a:latin typeface="-apple-system"/>
              </a:rPr>
              <a:t>Lighting Every Darkness in Two Pairs: A Calibration-Free Pipeline for RAW Denoising</a:t>
            </a:r>
            <a:endParaRPr lang="en-US" altLang="zh-CN" sz="2400" b="1" i="0" dirty="0">
              <a:solidFill>
                <a:srgbClr val="121212"/>
              </a:solidFill>
              <a:effectLst/>
              <a:latin typeface="-apple-system"/>
            </a:endParaRPr>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733826A6-637A-4367-B614-3AB26DEA0953}"/>
              </a:ext>
            </a:extLst>
          </p:cNvPr>
          <p:cNvSpPr txBox="1"/>
          <p:nvPr/>
        </p:nvSpPr>
        <p:spPr>
          <a:xfrm>
            <a:off x="450542" y="1671425"/>
            <a:ext cx="6647974" cy="369332"/>
          </a:xfrm>
          <a:prstGeom prst="rect">
            <a:avLst/>
          </a:prstGeom>
          <a:noFill/>
        </p:spPr>
        <p:txBody>
          <a:bodyPr wrap="none" rtlCol="0">
            <a:spAutoFit/>
          </a:bodyPr>
          <a:lstStyle/>
          <a:p>
            <a:r>
              <a:rPr lang="zh-CN" altLang="en-US" dirty="0"/>
              <a:t>让网络学标定，其实就是拿合成噪声做预训练，用真实样本微调</a:t>
            </a:r>
          </a:p>
        </p:txBody>
      </p:sp>
      <p:pic>
        <p:nvPicPr>
          <p:cNvPr id="4" name="图片 3">
            <a:extLst>
              <a:ext uri="{FF2B5EF4-FFF2-40B4-BE49-F238E27FC236}">
                <a16:creationId xmlns:a16="http://schemas.microsoft.com/office/drawing/2014/main" id="{E4DDEBCF-8599-BF4D-611C-A643CD93E2DB}"/>
              </a:ext>
            </a:extLst>
          </p:cNvPr>
          <p:cNvPicPr>
            <a:picLocks noChangeAspect="1"/>
          </p:cNvPicPr>
          <p:nvPr/>
        </p:nvPicPr>
        <p:blipFill>
          <a:blip r:embed="rId4"/>
          <a:stretch>
            <a:fillRect/>
          </a:stretch>
        </p:blipFill>
        <p:spPr>
          <a:xfrm>
            <a:off x="725485" y="2218799"/>
            <a:ext cx="9869863" cy="4221791"/>
          </a:xfrm>
          <a:prstGeom prst="rect">
            <a:avLst/>
          </a:prstGeom>
        </p:spPr>
      </p:pic>
    </p:spTree>
    <p:extLst>
      <p:ext uri="{BB962C8B-B14F-4D97-AF65-F5344CB8AC3E}">
        <p14:creationId xmlns:p14="http://schemas.microsoft.com/office/powerpoint/2010/main" val="4272255577"/>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25</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194945" y="933396"/>
            <a:ext cx="11997055" cy="589072"/>
          </a:xfrm>
          <a:prstGeom prst="rect">
            <a:avLst/>
          </a:prstGeom>
          <a:noFill/>
        </p:spPr>
        <p:txBody>
          <a:bodyPr wrap="square" rtlCol="0">
            <a:spAutoFit/>
          </a:bodyPr>
          <a:lstStyle/>
          <a:p>
            <a:pPr>
              <a:lnSpc>
                <a:spcPct val="150000"/>
              </a:lnSpc>
            </a:pPr>
            <a:r>
              <a:rPr lang="zh-CN" altLang="en-US" sz="2400" b="1" dirty="0"/>
              <a:t>一些总结</a:t>
            </a:r>
            <a:endParaRPr lang="en-US" altLang="zh-CN" b="1" dirty="0"/>
          </a:p>
        </p:txBody>
      </p:sp>
      <p:sp>
        <p:nvSpPr>
          <p:cNvPr id="12" name="文本框 11">
            <a:extLst>
              <a:ext uri="{FF2B5EF4-FFF2-40B4-BE49-F238E27FC236}">
                <a16:creationId xmlns:a16="http://schemas.microsoft.com/office/drawing/2014/main" id="{6AC13117-E424-40B9-AF0E-99FC144F8292}"/>
              </a:ext>
            </a:extLst>
          </p:cNvPr>
          <p:cNvSpPr txBox="1"/>
          <p:nvPr/>
        </p:nvSpPr>
        <p:spPr>
          <a:xfrm>
            <a:off x="944372" y="202090"/>
            <a:ext cx="1518356" cy="584771"/>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Details</a:t>
            </a:r>
            <a:endPar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7B9A0EC1-2924-C661-03C9-FD5301B1B11F}"/>
              </a:ext>
            </a:extLst>
          </p:cNvPr>
          <p:cNvSpPr txBox="1"/>
          <p:nvPr/>
        </p:nvSpPr>
        <p:spPr>
          <a:xfrm>
            <a:off x="450542" y="1671424"/>
            <a:ext cx="11387497" cy="46198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噪声标定很重要，但其实正常光照下的标定已经非常成熟了，近几年有一些论文专门针对了极暗场景下的噪声标定，就是因为光照不足会导致信噪比非常小从而带来更大的噪声，但是其他极端环境下的噪声建模其实鲜有研究。</a:t>
            </a:r>
            <a:endParaRPr lang="en-US" altLang="zh-CN" dirty="0"/>
          </a:p>
          <a:p>
            <a:pPr marL="285750" indent="-285750">
              <a:lnSpc>
                <a:spcPct val="150000"/>
              </a:lnSpc>
              <a:buFont typeface="Arial" panose="020B0604020202020204" pitchFamily="34" charset="0"/>
              <a:buChar char="•"/>
            </a:pPr>
            <a:r>
              <a:rPr lang="zh-CN" altLang="en-US" dirty="0"/>
              <a:t>极夜场景的噪声标定似乎也做到了饱和，缺乏扎实的计算摄影基础很难在做突破。</a:t>
            </a:r>
            <a:endParaRPr lang="en-US" altLang="zh-CN" dirty="0"/>
          </a:p>
          <a:p>
            <a:pPr marL="285750" indent="-285750">
              <a:lnSpc>
                <a:spcPct val="150000"/>
              </a:lnSpc>
              <a:buFont typeface="Arial" panose="020B0604020202020204" pitchFamily="34" charset="0"/>
              <a:buChar char="•"/>
            </a:pPr>
            <a:r>
              <a:rPr lang="zh-CN" altLang="en-US" dirty="0"/>
              <a:t>目前看来低光的任务主流还在做</a:t>
            </a:r>
            <a:r>
              <a:rPr lang="en-US" altLang="zh-CN" dirty="0"/>
              <a:t>RGB</a:t>
            </a:r>
            <a:r>
              <a:rPr lang="zh-CN" altLang="en-US" dirty="0"/>
              <a:t>域的，也有一些转到了</a:t>
            </a:r>
            <a:r>
              <a:rPr lang="en-US" altLang="zh-CN" dirty="0"/>
              <a:t>RAW</a:t>
            </a:r>
            <a:r>
              <a:rPr lang="zh-CN" altLang="en-US" dirty="0"/>
              <a:t>域去做，但是目前看来很少有工作根据噪声物理模型去做去噪，实际上还是一种端到端的任务，只是换了个域，基于物理模型特征去搭建神经网络做</a:t>
            </a:r>
            <a:r>
              <a:rPr lang="en-US" altLang="zh-CN" dirty="0"/>
              <a:t>raw</a:t>
            </a:r>
            <a:r>
              <a:rPr lang="zh-CN" altLang="en-US" dirty="0"/>
              <a:t>去噪也许会更好。</a:t>
            </a:r>
            <a:endParaRPr lang="en-US" altLang="zh-CN" dirty="0"/>
          </a:p>
          <a:p>
            <a:pPr marL="285750" indent="-285750">
              <a:lnSpc>
                <a:spcPct val="150000"/>
              </a:lnSpc>
              <a:buFont typeface="Arial" panose="020B0604020202020204" pitchFamily="34" charset="0"/>
              <a:buChar char="•"/>
            </a:pPr>
            <a:r>
              <a:rPr lang="zh-CN" altLang="en-US" dirty="0"/>
              <a:t>正常光照下一般做</a:t>
            </a:r>
            <a:r>
              <a:rPr lang="en-US" altLang="zh-CN" dirty="0"/>
              <a:t>raw</a:t>
            </a:r>
            <a:r>
              <a:rPr lang="zh-CN" altLang="en-US" dirty="0"/>
              <a:t>去噪会联合解马赛克一起做，在早些年前联合去噪和解马赛克也是一个比较热门的话题，最近极夜场景虽然做</a:t>
            </a:r>
            <a:r>
              <a:rPr lang="en-US" altLang="zh-CN" dirty="0"/>
              <a:t>raw</a:t>
            </a:r>
            <a:r>
              <a:rPr lang="zh-CN" altLang="en-US" dirty="0"/>
              <a:t>去噪有一些工作，但是很少和解马赛克一起做，或者直接默认一起做了，极夜下的联合去噪和解马赛克是否会有新的不同？</a:t>
            </a:r>
            <a:endParaRPr lang="en-US" altLang="zh-CN" dirty="0"/>
          </a:p>
          <a:p>
            <a:pPr marL="285750" indent="-285750">
              <a:lnSpc>
                <a:spcPct val="150000"/>
              </a:lnSpc>
              <a:buFont typeface="Arial" panose="020B0604020202020204" pitchFamily="34" charset="0"/>
              <a:buChar char="•"/>
            </a:pPr>
            <a:r>
              <a:rPr lang="en-US" altLang="zh-CN" dirty="0"/>
              <a:t>……</a:t>
            </a:r>
          </a:p>
        </p:txBody>
      </p:sp>
    </p:spTree>
    <p:extLst>
      <p:ext uri="{BB962C8B-B14F-4D97-AF65-F5344CB8AC3E}">
        <p14:creationId xmlns:p14="http://schemas.microsoft.com/office/powerpoint/2010/main" val="4068563078"/>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rot="10800000">
            <a:off x="0" y="-7"/>
            <a:ext cx="12192000" cy="242661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0800000">
            <a:off x="0" y="2493941"/>
            <a:ext cx="12192000" cy="7069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536239" y="3909427"/>
            <a:ext cx="5119523" cy="1107996"/>
          </a:xfrm>
          <a:prstGeom prst="rect">
            <a:avLst/>
          </a:prstGeom>
          <a:noFill/>
        </p:spPr>
        <p:txBody>
          <a:bodyPr wrap="square" rtlCol="0">
            <a:spAutoFit/>
          </a:bodyPr>
          <a:lstStyle/>
          <a:p>
            <a:pPr algn="ctr"/>
            <a:r>
              <a:rPr lang="zh-CN" altLang="en-US" sz="6600" b="1" dirty="0">
                <a:solidFill>
                  <a:srgbClr val="014924"/>
                </a:solidFill>
                <a:latin typeface="微软雅黑" panose="020B0503020204020204" pitchFamily="34" charset="-122"/>
                <a:ea typeface="微软雅黑" panose="020B0503020204020204" pitchFamily="34" charset="-122"/>
              </a:rPr>
              <a:t>感谢聆听</a:t>
            </a:r>
          </a:p>
        </p:txBody>
      </p:sp>
      <p:sp>
        <p:nvSpPr>
          <p:cNvPr id="19" name="文本框 18"/>
          <p:cNvSpPr txBox="1"/>
          <p:nvPr/>
        </p:nvSpPr>
        <p:spPr>
          <a:xfrm>
            <a:off x="323851" y="-24013"/>
            <a:ext cx="11544299" cy="3154706"/>
          </a:xfrm>
          <a:prstGeom prst="rect">
            <a:avLst/>
          </a:prstGeom>
        </p:spPr>
        <p:txBody>
          <a:bodyPr wrap="square" lIns="91436" tIns="45718" rIns="91436" bIns="45718">
            <a:spAutoFit/>
          </a:bodyPr>
          <a:lstStyle>
            <a:defPPr>
              <a:defRPr lang="zh-CN"/>
            </a:defPPr>
            <a:lvl1pPr algn="ctr">
              <a:defRPr sz="105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dist"/>
            <a:r>
              <a:rPr lang="en-US" altLang="zh-CN" sz="19900" b="1" dirty="0">
                <a:solidFill>
                  <a:schemeClr val="bg1">
                    <a:alpha val="10000"/>
                  </a:schemeClr>
                </a:solidFill>
              </a:rPr>
              <a:t>THANKS</a:t>
            </a:r>
            <a:endParaRPr lang="zh-CN" altLang="en-US" sz="19900" b="1" dirty="0">
              <a:solidFill>
                <a:schemeClr val="bg1">
                  <a:alpha val="10000"/>
                </a:schemeClr>
              </a:solidFill>
            </a:endParaRPr>
          </a:p>
        </p:txBody>
      </p:sp>
      <p:grpSp>
        <p:nvGrpSpPr>
          <p:cNvPr id="7" name="组合 6"/>
          <p:cNvGrpSpPr/>
          <p:nvPr/>
        </p:nvGrpSpPr>
        <p:grpSpPr>
          <a:xfrm>
            <a:off x="4876405" y="1196335"/>
            <a:ext cx="2439190" cy="2439192"/>
            <a:chOff x="5007734" y="902247"/>
            <a:chExt cx="2543685" cy="2543686"/>
          </a:xfrm>
        </p:grpSpPr>
        <p:sp>
          <p:nvSpPr>
            <p:cNvPr id="8" name="椭圆 7"/>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5127804" y="1438170"/>
            <a:ext cx="1936392" cy="1930811"/>
          </a:xfrm>
          <a:prstGeom prst="rect">
            <a:avLst/>
          </a:prstGeom>
        </p:spPr>
      </p:pic>
      <p:sp>
        <p:nvSpPr>
          <p:cNvPr id="2" name="灯片编号占位符 1">
            <a:extLst>
              <a:ext uri="{FF2B5EF4-FFF2-40B4-BE49-F238E27FC236}">
                <a16:creationId xmlns:a16="http://schemas.microsoft.com/office/drawing/2014/main" id="{42EF08B7-C9C0-4B3D-A76C-A8FC33D173C6}"/>
              </a:ext>
            </a:extLst>
          </p:cNvPr>
          <p:cNvSpPr>
            <a:spLocks noGrp="1"/>
          </p:cNvSpPr>
          <p:nvPr>
            <p:ph type="sldNum" sz="quarter" idx="12"/>
          </p:nvPr>
        </p:nvSpPr>
        <p:spPr/>
        <p:txBody>
          <a:bodyPr/>
          <a:lstStyle/>
          <a:p>
            <a:fld id="{01635508-54A0-4FB0-A4C5-6467DE85E924}" type="slidenum">
              <a:rPr lang="zh-CN" altLang="en-US" smtClean="0"/>
              <a:t>26</a:t>
            </a:fld>
            <a:endParaRPr lang="zh-CN" altLang="en-US"/>
          </a:p>
        </p:txBody>
      </p:sp>
    </p:spTree>
  </p:cSld>
  <p:clrMapOvr>
    <a:masterClrMapping/>
  </p:clrMapOvr>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4974</TotalTime>
  <Words>928</Words>
  <Application>Microsoft Office PowerPoint</Application>
  <PresentationFormat>宽屏</PresentationFormat>
  <Paragraphs>151</Paragraphs>
  <Slides>26</Slides>
  <Notes>26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26</vt:i4>
      </vt:variant>
    </vt:vector>
  </HeadingPairs>
  <TitlesOfParts>
    <vt:vector size="34" baseType="lpstr">
      <vt:lpstr>-apple-system</vt:lpstr>
      <vt:lpstr>NimbusRomNo9L-Medi</vt:lpstr>
      <vt:lpstr>微软雅黑</vt:lpstr>
      <vt:lpstr>Arial</vt:lpstr>
      <vt:lpstr>Calibri</vt:lpstr>
      <vt:lpstr>Calibri Light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基础架构处</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0022</dc:title>
  <dc:creator>ZK</dc:creator>
  <cp:lastModifiedBy>chenxi wang</cp:lastModifiedBy>
  <cp:revision>373</cp:revision>
  <dcterms:created xsi:type="dcterms:W3CDTF">2017-04-21T07:43:00Z</dcterms:created>
  <dcterms:modified xsi:type="dcterms:W3CDTF">2023-09-09T14:26:31Z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BCD2C34A67BD4471831CA723E43DC96B</vt:lpwstr>
  </property>
</Properties>
</file>