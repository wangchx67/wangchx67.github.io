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handoutMasterIdLst>
    <p:handoutMasterId r:id="rId28"/>
  </p:handoutMasterIdLst>
  <p:sldIdLst>
    <p:sldId id="268" r:id="rId2"/>
    <p:sldId id="571" r:id="rId3"/>
    <p:sldId id="586" r:id="rId4"/>
    <p:sldId id="290" r:id="rId5"/>
    <p:sldId id="587" r:id="rId6"/>
    <p:sldId id="588" r:id="rId7"/>
    <p:sldId id="592" r:id="rId8"/>
    <p:sldId id="589" r:id="rId9"/>
    <p:sldId id="590" r:id="rId10"/>
    <p:sldId id="591" r:id="rId11"/>
    <p:sldId id="595" r:id="rId12"/>
    <p:sldId id="594" r:id="rId13"/>
    <p:sldId id="596" r:id="rId14"/>
    <p:sldId id="597" r:id="rId15"/>
    <p:sldId id="598" r:id="rId16"/>
    <p:sldId id="593" r:id="rId17"/>
    <p:sldId id="600" r:id="rId18"/>
    <p:sldId id="599" r:id="rId19"/>
    <p:sldId id="601" r:id="rId20"/>
    <p:sldId id="281" r:id="rId21"/>
    <p:sldId id="585" r:id="rId22"/>
    <p:sldId id="602" r:id="rId23"/>
    <p:sldId id="603" r:id="rId24"/>
    <p:sldId id="604" r:id="rId25"/>
    <p:sldId id="277"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47">
          <p15:clr>
            <a:srgbClr val="A4A3A4"/>
          </p15:clr>
        </p15:guide>
        <p15:guide id="2" pos="389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angchenxi" initials="WCX" lastIdx="1" clrIdx="0">
    <p:extLst>
      <p:ext uri="{19B8F6BF-5375-455C-9EA6-DF929625EA0E}">
        <p15:presenceInfo xmlns:p15="http://schemas.microsoft.com/office/powerpoint/2012/main" userId="f91903b3cf2cd03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4924"/>
    <a:srgbClr val="C00000"/>
    <a:srgbClr val="FF3F3F"/>
    <a:srgbClr val="FFC1C1"/>
    <a:srgbClr val="FF6969"/>
    <a:srgbClr val="005CA1"/>
    <a:srgbClr val="B2B2B2"/>
    <a:srgbClr val="004A82"/>
    <a:srgbClr val="00355C"/>
    <a:srgbClr val="0048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8" autoAdjust="0"/>
    <p:restoredTop sz="91541" autoAdjust="0"/>
  </p:normalViewPr>
  <p:slideViewPr>
    <p:cSldViewPr snapToGrid="0">
      <p:cViewPr varScale="1">
        <p:scale>
          <a:sx n="104" d="100"/>
          <a:sy n="104" d="100"/>
        </p:scale>
        <p:origin x="870" y="108"/>
      </p:cViewPr>
      <p:guideLst>
        <p:guide orient="horz" pos="2047"/>
        <p:guide pos="3892"/>
      </p:guideLst>
    </p:cSldViewPr>
  </p:slideViewPr>
  <p:notesTextViewPr>
    <p:cViewPr>
      <p:scale>
        <a:sx n="1" d="1"/>
        <a:sy n="1" d="1"/>
      </p:scale>
      <p:origin x="0" y="0"/>
    </p:cViewPr>
  </p:notesTextViewPr>
  <p:sorterViewPr>
    <p:cViewPr>
      <p:scale>
        <a:sx n="33" d="100"/>
        <a:sy n="33"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presProps" Target="presProp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2022/12/18</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A552A8-ECE7-49AA-8726-BE90DBC11947}" type="datetimeFigureOut">
              <a:rPr lang="zh-CN" altLang="en-US" smtClean="0"/>
              <a:t>2022/12/18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8EAD77-486C-432B-9EE9-E6FD5C91EB8A}"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ym typeface="+mn-ea"/>
              </a:rPr>
              <a:t>关注公众号：今日双鸭山</a:t>
            </a:r>
            <a:endParaRPr lang="en-US" altLang="zh-CN"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a:t>
            </a:fld>
            <a:endParaRPr lang="zh-CN" altLang="en-US"/>
          </a:p>
        </p:txBody>
      </p:sp>
    </p:spTree>
    <p:extLst>
      <p:ext uri="{BB962C8B-B14F-4D97-AF65-F5344CB8AC3E}">
        <p14:creationId xmlns:p14="http://schemas.microsoft.com/office/powerpoint/2010/main" val="2792138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3</a:t>
            </a:fld>
            <a:endParaRPr lang="zh-CN" altLang="en-US"/>
          </a:p>
        </p:txBody>
      </p:sp>
    </p:spTree>
    <p:extLst>
      <p:ext uri="{BB962C8B-B14F-4D97-AF65-F5344CB8AC3E}">
        <p14:creationId xmlns:p14="http://schemas.microsoft.com/office/powerpoint/2010/main" val="3207738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5</a:t>
            </a:fld>
            <a:endParaRPr lang="zh-CN" altLang="en-US"/>
          </a:p>
        </p:txBody>
      </p:sp>
    </p:spTree>
    <p:extLst>
      <p:ext uri="{BB962C8B-B14F-4D97-AF65-F5344CB8AC3E}">
        <p14:creationId xmlns:p14="http://schemas.microsoft.com/office/powerpoint/2010/main" val="1576240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6</a:t>
            </a:fld>
            <a:endParaRPr lang="zh-CN" altLang="en-US"/>
          </a:p>
        </p:txBody>
      </p:sp>
    </p:spTree>
    <p:extLst>
      <p:ext uri="{BB962C8B-B14F-4D97-AF65-F5344CB8AC3E}">
        <p14:creationId xmlns:p14="http://schemas.microsoft.com/office/powerpoint/2010/main" val="3710488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7</a:t>
            </a:fld>
            <a:endParaRPr lang="zh-CN" altLang="en-US"/>
          </a:p>
        </p:txBody>
      </p:sp>
    </p:spTree>
    <p:extLst>
      <p:ext uri="{BB962C8B-B14F-4D97-AF65-F5344CB8AC3E}">
        <p14:creationId xmlns:p14="http://schemas.microsoft.com/office/powerpoint/2010/main" val="15221678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8</a:t>
            </a:fld>
            <a:endParaRPr lang="zh-CN" altLang="en-US"/>
          </a:p>
        </p:txBody>
      </p:sp>
    </p:spTree>
    <p:extLst>
      <p:ext uri="{BB962C8B-B14F-4D97-AF65-F5344CB8AC3E}">
        <p14:creationId xmlns:p14="http://schemas.microsoft.com/office/powerpoint/2010/main" val="6144766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9</a:t>
            </a:fld>
            <a:endParaRPr lang="zh-CN" altLang="en-US"/>
          </a:p>
        </p:txBody>
      </p:sp>
    </p:spTree>
    <p:extLst>
      <p:ext uri="{BB962C8B-B14F-4D97-AF65-F5344CB8AC3E}">
        <p14:creationId xmlns:p14="http://schemas.microsoft.com/office/powerpoint/2010/main" val="39284243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10</a:t>
            </a:fld>
            <a:endParaRPr lang="zh-CN" altLang="en-US"/>
          </a:p>
        </p:txBody>
      </p:sp>
    </p:spTree>
    <p:extLst>
      <p:ext uri="{BB962C8B-B14F-4D97-AF65-F5344CB8AC3E}">
        <p14:creationId xmlns:p14="http://schemas.microsoft.com/office/powerpoint/2010/main" val="36887535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11</a:t>
            </a:fld>
            <a:endParaRPr lang="zh-CN" altLang="en-US"/>
          </a:p>
        </p:txBody>
      </p:sp>
    </p:spTree>
    <p:extLst>
      <p:ext uri="{BB962C8B-B14F-4D97-AF65-F5344CB8AC3E}">
        <p14:creationId xmlns:p14="http://schemas.microsoft.com/office/powerpoint/2010/main" val="24361456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12</a:t>
            </a:fld>
            <a:endParaRPr lang="zh-CN" altLang="en-US"/>
          </a:p>
        </p:txBody>
      </p:sp>
    </p:spTree>
    <p:extLst>
      <p:ext uri="{BB962C8B-B14F-4D97-AF65-F5344CB8AC3E}">
        <p14:creationId xmlns:p14="http://schemas.microsoft.com/office/powerpoint/2010/main" val="39220421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13</a:t>
            </a:fld>
            <a:endParaRPr lang="zh-CN" altLang="en-US"/>
          </a:p>
        </p:txBody>
      </p:sp>
    </p:spTree>
    <p:extLst>
      <p:ext uri="{BB962C8B-B14F-4D97-AF65-F5344CB8AC3E}">
        <p14:creationId xmlns:p14="http://schemas.microsoft.com/office/powerpoint/2010/main" val="3116639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14</a:t>
            </a:fld>
            <a:endParaRPr lang="zh-CN" altLang="en-US"/>
          </a:p>
        </p:txBody>
      </p:sp>
    </p:spTree>
    <p:extLst>
      <p:ext uri="{BB962C8B-B14F-4D97-AF65-F5344CB8AC3E}">
        <p14:creationId xmlns:p14="http://schemas.microsoft.com/office/powerpoint/2010/main" val="18966614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15</a:t>
            </a:fld>
            <a:endParaRPr lang="zh-CN" altLang="en-US"/>
          </a:p>
        </p:txBody>
      </p:sp>
    </p:spTree>
    <p:extLst>
      <p:ext uri="{BB962C8B-B14F-4D97-AF65-F5344CB8AC3E}">
        <p14:creationId xmlns:p14="http://schemas.microsoft.com/office/powerpoint/2010/main" val="12498252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16</a:t>
            </a:fld>
            <a:endParaRPr lang="zh-CN" altLang="en-US"/>
          </a:p>
        </p:txBody>
      </p:sp>
    </p:spTree>
    <p:extLst>
      <p:ext uri="{BB962C8B-B14F-4D97-AF65-F5344CB8AC3E}">
        <p14:creationId xmlns:p14="http://schemas.microsoft.com/office/powerpoint/2010/main" val="2461082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17</a:t>
            </a:fld>
            <a:endParaRPr lang="zh-CN" altLang="en-US"/>
          </a:p>
        </p:txBody>
      </p:sp>
    </p:spTree>
    <p:extLst>
      <p:ext uri="{BB962C8B-B14F-4D97-AF65-F5344CB8AC3E}">
        <p14:creationId xmlns:p14="http://schemas.microsoft.com/office/powerpoint/2010/main" val="7047567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18</a:t>
            </a:fld>
            <a:endParaRPr lang="zh-CN" altLang="en-US"/>
          </a:p>
        </p:txBody>
      </p:sp>
    </p:spTree>
    <p:extLst>
      <p:ext uri="{BB962C8B-B14F-4D97-AF65-F5344CB8AC3E}">
        <p14:creationId xmlns:p14="http://schemas.microsoft.com/office/powerpoint/2010/main" val="22730351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19</a:t>
            </a:fld>
            <a:endParaRPr lang="zh-CN" altLang="en-US"/>
          </a:p>
        </p:txBody>
      </p:sp>
    </p:spTree>
    <p:extLst>
      <p:ext uri="{BB962C8B-B14F-4D97-AF65-F5344CB8AC3E}">
        <p14:creationId xmlns:p14="http://schemas.microsoft.com/office/powerpoint/2010/main" val="38017699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20</a:t>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21</a:t>
            </a:fld>
            <a:endParaRPr lang="zh-CN" altLang="en-US"/>
          </a:p>
        </p:txBody>
      </p:sp>
    </p:spTree>
    <p:extLst>
      <p:ext uri="{BB962C8B-B14F-4D97-AF65-F5344CB8AC3E}">
        <p14:creationId xmlns:p14="http://schemas.microsoft.com/office/powerpoint/2010/main" val="770351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22</a:t>
            </a:fld>
            <a:endParaRPr lang="zh-CN" altLang="en-US"/>
          </a:p>
        </p:txBody>
      </p:sp>
    </p:spTree>
    <p:extLst>
      <p:ext uri="{BB962C8B-B14F-4D97-AF65-F5344CB8AC3E}">
        <p14:creationId xmlns:p14="http://schemas.microsoft.com/office/powerpoint/2010/main" val="6557776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23</a:t>
            </a:fld>
            <a:endParaRPr lang="zh-CN" altLang="en-US"/>
          </a:p>
        </p:txBody>
      </p:sp>
    </p:spTree>
    <p:extLst>
      <p:ext uri="{BB962C8B-B14F-4D97-AF65-F5344CB8AC3E}">
        <p14:creationId xmlns:p14="http://schemas.microsoft.com/office/powerpoint/2010/main" val="9864342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24</a:t>
            </a:fld>
            <a:endParaRPr lang="zh-CN" altLang="en-US"/>
          </a:p>
        </p:txBody>
      </p:sp>
    </p:spTree>
    <p:extLst>
      <p:ext uri="{BB962C8B-B14F-4D97-AF65-F5344CB8AC3E}">
        <p14:creationId xmlns:p14="http://schemas.microsoft.com/office/powerpoint/2010/main" val="23261429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sym typeface="+mn-ea"/>
              </a:rPr>
              <a:t>关注公众号：今日双鸭山</a:t>
            </a:r>
            <a:endParaRPr lang="zh-CN" altLang="en-US" dirty="0"/>
          </a:p>
        </p:txBody>
      </p:sp>
      <p:sp>
        <p:nvSpPr>
          <p:cNvPr id="4" name="灯片编号占位符 3"/>
          <p:cNvSpPr>
            <a:spLocks noGrp="1"/>
          </p:cNvSpPr>
          <p:nvPr>
            <p:ph type="sldNum" sz="quarter" idx="10"/>
          </p:nvPr>
        </p:nvSpPr>
        <p:spPr/>
        <p:txBody>
          <a:bodyPr/>
          <a:lstStyle/>
          <a:p>
            <a:fld id="{B18EAD77-486C-432B-9EE9-E6FD5C91EB8A}" type="slidenum">
              <a:rPr lang="zh-CN" altLang="en-US" smtClean="0"/>
              <a:t>25</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5D83BAE0-C9ED-413B-BD88-CDBF33EDD95B}" type="datetime1">
              <a:rPr lang="zh-CN" altLang="en-US" smtClean="0"/>
              <a:t>2022/12/18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7FC84B33-CCE6-4B82-8613-F18CFD31D0DA}" type="datetime1">
              <a:rPr lang="zh-CN" altLang="en-US" smtClean="0"/>
              <a:t>2022/12/18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B0B69AC-0D17-4D81-BD62-30BF802FFAA5}" type="datetime1">
              <a:rPr lang="zh-CN" altLang="en-US" smtClean="0"/>
              <a:t>2022/12/18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5906115-6148-4854-B254-26FA9D53C41E}" type="datetime1">
              <a:rPr lang="zh-CN" altLang="en-US" smtClean="0"/>
              <a:t>2022/12/18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6C0E3089-ED8D-43C3-AEEA-DFEFAAD38D1E}" type="datetime1">
              <a:rPr lang="zh-CN" altLang="en-US" smtClean="0"/>
              <a:t>2022/12/18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3A6611D-2559-465E-8384-38B4300A25BA}" type="datetime1">
              <a:rPr lang="zh-CN" altLang="en-US" smtClean="0"/>
              <a:t>2022/12/18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B5BBA38-CF10-45BE-952A-CD2CDD80F820}" type="datetime1">
              <a:rPr lang="zh-CN" altLang="en-US" smtClean="0"/>
              <a:t>2022/12/18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1836CBA5-C314-45C0-B929-D56E9AACF98C}" type="datetime1">
              <a:rPr lang="zh-CN" altLang="en-US" smtClean="0"/>
              <a:t>2022/12/18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7911B3D-A852-4D3B-96EA-C155E5F0DE42}" type="datetime1">
              <a:rPr lang="zh-CN" altLang="en-US" smtClean="0"/>
              <a:t>2022/12/18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E26627BC-8FF8-4FFE-BD14-BCC36678F71E}" type="datetime1">
              <a:rPr lang="zh-CN" altLang="en-US" smtClean="0"/>
              <a:t>2022/12/18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868A2BF-AFBE-42CA-8EA4-477D61387BAA}" type="datetime1">
              <a:rPr lang="zh-CN" altLang="en-US" smtClean="0"/>
              <a:t>2022/12/18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1635508-54A0-4FB0-A4C5-6467DE85E924}"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C07A6B5-B782-41EF-B86F-E4039C3F8E0F}" type="datetime1">
              <a:rPr lang="zh-CN" altLang="en-US" smtClean="0"/>
              <a:t>2022/12/18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635508-54A0-4FB0-A4C5-6467DE85E924}"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8" Type="http://schemas.openxmlformats.org/officeDocument/2006/relationships/image" Target="../media/image27.png"/><Relationship Id="rId13" Type="http://schemas.openxmlformats.org/officeDocument/2006/relationships/image" Target="../media/image32.png"/><Relationship Id="rId3" Type="http://schemas.openxmlformats.org/officeDocument/2006/relationships/image" Target="../media/image5.png"/><Relationship Id="rId7" Type="http://schemas.openxmlformats.org/officeDocument/2006/relationships/image" Target="../media/image26.png"/><Relationship Id="rId12"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png"/><Relationship Id="rId11" Type="http://schemas.openxmlformats.org/officeDocument/2006/relationships/image" Target="../media/image30.png"/><Relationship Id="rId5" Type="http://schemas.openxmlformats.org/officeDocument/2006/relationships/image" Target="../media/image22.png"/><Relationship Id="rId10" Type="http://schemas.openxmlformats.org/officeDocument/2006/relationships/image" Target="../media/image29.png"/><Relationship Id="rId4" Type="http://schemas.openxmlformats.org/officeDocument/2006/relationships/image" Target="../media/image23.png"/><Relationship Id="rId9" Type="http://schemas.openxmlformats.org/officeDocument/2006/relationships/image" Target="../media/image28.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35.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38.gif"/></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www.youtube.com/watch?v=uXY18nzdSsM&amp;t=2864s" TargetMode="External"/><Relationship Id="rId5" Type="http://schemas.openxmlformats.org/officeDocument/2006/relationships/hyperlink" Target="https://spaces.ac.cn/archives/5776" TargetMode="External"/><Relationship Id="rId4" Type="http://schemas.openxmlformats.org/officeDocument/2006/relationships/hyperlink" Target="https://spaces.ac.cn/archives/5807"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42.png"/><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rotWithShape="1">
          <a:blip r:embed="rId3" cstate="print">
            <a:extLst>
              <a:ext uri="{28A0092B-C50C-407E-A947-70E740481C1C}">
                <a14:useLocalDpi xmlns:a14="http://schemas.microsoft.com/office/drawing/2010/main" val="0"/>
              </a:ext>
            </a:extLst>
          </a:blip>
          <a:srcRect t="20323" r="14726" b="48018"/>
          <a:stretch>
            <a:fillRect/>
          </a:stretch>
        </p:blipFill>
        <p:spPr>
          <a:xfrm>
            <a:off x="15050" y="5223309"/>
            <a:ext cx="5870824" cy="1634689"/>
          </a:xfrm>
          <a:prstGeom prst="rect">
            <a:avLst/>
          </a:prstGeom>
        </p:spPr>
      </p:pic>
      <p:grpSp>
        <p:nvGrpSpPr>
          <p:cNvPr id="2" name="组合 1"/>
          <p:cNvGrpSpPr/>
          <p:nvPr/>
        </p:nvGrpSpPr>
        <p:grpSpPr>
          <a:xfrm>
            <a:off x="4705866" y="0"/>
            <a:ext cx="2780268" cy="3063728"/>
            <a:chOff x="4705866" y="0"/>
            <a:chExt cx="2780268" cy="3063728"/>
          </a:xfrm>
        </p:grpSpPr>
        <p:sp>
          <p:nvSpPr>
            <p:cNvPr id="28" name="任意多边形 27"/>
            <p:cNvSpPr/>
            <p:nvPr/>
          </p:nvSpPr>
          <p:spPr>
            <a:xfrm>
              <a:off x="4705866" y="0"/>
              <a:ext cx="2780268" cy="3063728"/>
            </a:xfrm>
            <a:custGeom>
              <a:avLst/>
              <a:gdLst>
                <a:gd name="connsiteX0" fmla="*/ 0 w 2780268"/>
                <a:gd name="connsiteY0" fmla="*/ 0 h 3063728"/>
                <a:gd name="connsiteX1" fmla="*/ 2780268 w 2780268"/>
                <a:gd name="connsiteY1" fmla="*/ 0 h 3063728"/>
                <a:gd name="connsiteX2" fmla="*/ 2780268 w 2780268"/>
                <a:gd name="connsiteY2" fmla="*/ 1673594 h 3063728"/>
                <a:gd name="connsiteX3" fmla="*/ 1390134 w 2780268"/>
                <a:gd name="connsiteY3" fmla="*/ 3063728 h 3063728"/>
                <a:gd name="connsiteX4" fmla="*/ 0 w 2780268"/>
                <a:gd name="connsiteY4" fmla="*/ 1673594 h 306372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80268" h="3063728">
                  <a:moveTo>
                    <a:pt x="0" y="0"/>
                  </a:moveTo>
                  <a:lnTo>
                    <a:pt x="2780268" y="0"/>
                  </a:lnTo>
                  <a:lnTo>
                    <a:pt x="2780268" y="1673594"/>
                  </a:lnTo>
                  <a:cubicBezTo>
                    <a:pt x="2780268" y="2441344"/>
                    <a:pt x="2157884" y="3063728"/>
                    <a:pt x="1390134" y="3063728"/>
                  </a:cubicBezTo>
                  <a:cubicBezTo>
                    <a:pt x="622384" y="3063728"/>
                    <a:pt x="0" y="2441344"/>
                    <a:pt x="0" y="1673594"/>
                  </a:cubicBezTo>
                  <a:close/>
                </a:path>
              </a:pathLst>
            </a:cu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p:cNvGrpSpPr/>
            <p:nvPr/>
          </p:nvGrpSpPr>
          <p:grpSpPr>
            <a:xfrm>
              <a:off x="4875891" y="408799"/>
              <a:ext cx="2439190" cy="2439192"/>
              <a:chOff x="5007734" y="902247"/>
              <a:chExt cx="2543685" cy="2543686"/>
            </a:xfrm>
          </p:grpSpPr>
          <p:sp>
            <p:nvSpPr>
              <p:cNvPr id="8" name="椭圆 7"/>
              <p:cNvSpPr/>
              <p:nvPr/>
            </p:nvSpPr>
            <p:spPr>
              <a:xfrm>
                <a:off x="5007734" y="902247"/>
                <a:ext cx="2543685" cy="2543686"/>
              </a:xfrm>
              <a:prstGeom prst="ellipse">
                <a:avLst/>
              </a:prstGeom>
              <a:gradFill flip="none" rotWithShape="1">
                <a:gsLst>
                  <a:gs pos="0">
                    <a:schemeClr val="bg1"/>
                  </a:gs>
                  <a:gs pos="100000">
                    <a:srgbClr val="E8E8E8"/>
                  </a:gs>
                </a:gsLst>
                <a:lin ang="5400000" scaled="1"/>
                <a:tileRect/>
              </a:gradFill>
              <a:ln>
                <a:noFill/>
              </a:ln>
              <a:effectLst>
                <a:outerShdw blurRad="1397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0800000">
                <a:off x="5160137" y="1054647"/>
                <a:ext cx="2213120" cy="2213120"/>
              </a:xfrm>
              <a:prstGeom prst="ellipse">
                <a:avLst/>
              </a:prstGeom>
              <a:gradFill flip="none" rotWithShape="1">
                <a:gsLst>
                  <a:gs pos="0">
                    <a:schemeClr val="bg1"/>
                  </a:gs>
                  <a:gs pos="100000">
                    <a:srgbClr val="E8E8E8"/>
                  </a:gs>
                </a:gsLst>
                <a:lin ang="5400000" scaled="1"/>
                <a:tileRect/>
              </a:gradFill>
              <a:ln>
                <a:noFill/>
              </a:ln>
              <a:effectLst>
                <a:innerShdw blurRad="889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14" name="矩形 13"/>
          <p:cNvSpPr/>
          <p:nvPr/>
        </p:nvSpPr>
        <p:spPr>
          <a:xfrm>
            <a:off x="0" y="5223310"/>
            <a:ext cx="12192000" cy="1634689"/>
          </a:xfrm>
          <a:prstGeom prst="rect">
            <a:avLst/>
          </a:prstGeom>
          <a:gradFill flip="none" rotWithShape="1">
            <a:gsLst>
              <a:gs pos="0">
                <a:srgbClr val="014924"/>
              </a:gs>
              <a:gs pos="51000">
                <a:srgbClr val="014924"/>
              </a:gs>
              <a:gs pos="80000">
                <a:srgbClr val="014924">
                  <a:alpha val="80000"/>
                </a:srgbClr>
              </a:gs>
              <a:gs pos="100000">
                <a:srgbClr val="014924">
                  <a:alpha val="60000"/>
                </a:srgb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p:cNvSpPr/>
          <p:nvPr/>
        </p:nvSpPr>
        <p:spPr>
          <a:xfrm>
            <a:off x="0" y="5053673"/>
            <a:ext cx="12192000" cy="7710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878631" y="3429000"/>
            <a:ext cx="8434738" cy="922020"/>
          </a:xfrm>
          <a:prstGeom prst="rect">
            <a:avLst/>
          </a:prstGeom>
          <a:noFill/>
        </p:spPr>
        <p:txBody>
          <a:bodyPr wrap="square" rtlCol="0">
            <a:spAutoFit/>
          </a:bodyPr>
          <a:lstStyle/>
          <a:p>
            <a:pPr algn="ctr"/>
            <a:r>
              <a:rPr lang="en-US" altLang="zh-CN" sz="5400" b="1" dirty="0">
                <a:solidFill>
                  <a:srgbClr val="014924"/>
                </a:solidFill>
                <a:latin typeface="微软雅黑" panose="020B0503020204020204" pitchFamily="34" charset="-122"/>
                <a:ea typeface="微软雅黑" panose="020B0503020204020204" pitchFamily="34" charset="-122"/>
              </a:rPr>
              <a:t>FVL</a:t>
            </a:r>
            <a:r>
              <a:rPr lang="zh-CN" altLang="en-US" sz="5400" b="1" dirty="0">
                <a:solidFill>
                  <a:srgbClr val="014924"/>
                </a:solidFill>
                <a:latin typeface="微软雅黑" panose="020B0503020204020204" pitchFamily="34" charset="-122"/>
                <a:ea typeface="微软雅黑" panose="020B0503020204020204" pitchFamily="34" charset="-122"/>
              </a:rPr>
              <a:t>学习讲座</a:t>
            </a:r>
          </a:p>
        </p:txBody>
      </p:sp>
      <p:sp>
        <p:nvSpPr>
          <p:cNvPr id="21" name="文本框 20"/>
          <p:cNvSpPr txBox="1"/>
          <p:nvPr/>
        </p:nvSpPr>
        <p:spPr>
          <a:xfrm>
            <a:off x="7675300" y="5672353"/>
            <a:ext cx="3934639" cy="646331"/>
          </a:xfrm>
          <a:prstGeom prst="rect">
            <a:avLst/>
          </a:prstGeom>
          <a:noFill/>
        </p:spPr>
        <p:txBody>
          <a:bodyPr wrap="square" rtlCol="0">
            <a:spAutoFit/>
          </a:bodyPr>
          <a:lstStyle/>
          <a:p>
            <a:pPr indent="0">
              <a:buFont typeface="Arial" panose="020B0604020202020204" pitchFamily="34" charset="0"/>
              <a:buNone/>
            </a:pPr>
            <a:r>
              <a:rPr lang="zh-CN" altLang="en-US" dirty="0">
                <a:solidFill>
                  <a:schemeClr val="bg1"/>
                </a:solidFill>
                <a:latin typeface="微软雅黑" panose="020B0503020204020204" pitchFamily="34" charset="-122"/>
                <a:ea typeface="微软雅黑" panose="020B0503020204020204" pitchFamily="34" charset="-122"/>
              </a:rPr>
              <a:t>汇报人：王晨曦</a:t>
            </a:r>
            <a:endParaRPr lang="en-US" altLang="zh-CN" dirty="0">
              <a:solidFill>
                <a:schemeClr val="bg1"/>
              </a:solidFill>
              <a:latin typeface="微软雅黑" panose="020B0503020204020204" pitchFamily="34" charset="-122"/>
              <a:ea typeface="微软雅黑" panose="020B0503020204020204" pitchFamily="34" charset="-122"/>
            </a:endParaRPr>
          </a:p>
          <a:p>
            <a:pPr indent="0">
              <a:buFont typeface="Arial" panose="020B0604020202020204" pitchFamily="34" charset="0"/>
              <a:buNone/>
            </a:pPr>
            <a:r>
              <a:rPr lang="en-US" altLang="zh-CN" dirty="0">
                <a:solidFill>
                  <a:schemeClr val="bg1"/>
                </a:solidFill>
                <a:latin typeface="微软雅黑" panose="020B0503020204020204" pitchFamily="34" charset="-122"/>
                <a:ea typeface="微软雅黑" panose="020B0503020204020204" pitchFamily="34" charset="-122"/>
              </a:rPr>
              <a:t>	2022.12.18</a:t>
            </a:r>
            <a:endParaRPr lang="zh-CN" altLang="en-US" dirty="0">
              <a:solidFill>
                <a:schemeClr val="bg1"/>
              </a:solidFill>
              <a:latin typeface="微软雅黑" panose="020B0503020204020204" pitchFamily="34" charset="-122"/>
              <a:ea typeface="微软雅黑" panose="020B0503020204020204" pitchFamily="34" charset="-122"/>
            </a:endParaRPr>
          </a:p>
        </p:txBody>
      </p:sp>
      <p:pic>
        <p:nvPicPr>
          <p:cNvPr id="6" name="图片 5"/>
          <p:cNvPicPr>
            <a:picLocks noChangeAspect="1"/>
          </p:cNvPicPr>
          <p:nvPr/>
        </p:nvPicPr>
        <p:blipFill>
          <a:blip r:embed="rId4" cstate="print">
            <a:extLst>
              <a:ext uri="{BEBA8EAE-BF5A-486C-A8C5-ECC9F3942E4B}">
                <a14:imgProps xmlns:a14="http://schemas.microsoft.com/office/drawing/2010/main">
                  <a14:imgLayer r:embed="rId5">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5114939" y="650634"/>
            <a:ext cx="1936392" cy="1930811"/>
          </a:xfrm>
          <a:prstGeom prst="rect">
            <a:avLst/>
          </a:prstGeom>
        </p:spPr>
      </p:pic>
      <p:sp>
        <p:nvSpPr>
          <p:cNvPr id="3" name="灯片编号占位符 2">
            <a:extLst>
              <a:ext uri="{FF2B5EF4-FFF2-40B4-BE49-F238E27FC236}">
                <a16:creationId xmlns:a16="http://schemas.microsoft.com/office/drawing/2014/main" id="{0C88FA75-D91D-4972-A633-0DF08A9B6A6B}"/>
              </a:ext>
            </a:extLst>
          </p:cNvPr>
          <p:cNvSpPr>
            <a:spLocks noGrp="1"/>
          </p:cNvSpPr>
          <p:nvPr>
            <p:ph type="sldNum" sz="quarter" idx="12"/>
          </p:nvPr>
        </p:nvSpPr>
        <p:spPr/>
        <p:txBody>
          <a:bodyPr/>
          <a:lstStyle/>
          <a:p>
            <a:fld id="{01635508-54A0-4FB0-A4C5-6467DE85E924}" type="slidenum">
              <a:rPr lang="zh-CN" altLang="en-US" smtClean="0"/>
              <a:t>1</a:t>
            </a:fld>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1308"/>
    </mc:Choice>
    <mc:Fallback xmlns="">
      <p:transition spd="slow" advTm="1308"/>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图片 16"/>
          <p:cNvPicPr>
            <a:picLocks noChangeAspect="1"/>
          </p:cNvPicPr>
          <p:nvPr/>
        </p:nvPicPr>
        <p:blipFill rotWithShape="1">
          <a:blip r:embed="rId3" cstate="print">
            <a:extLst>
              <a:ext uri="{28A0092B-C50C-407E-A947-70E740481C1C}">
                <a14:useLocalDpi xmlns:a14="http://schemas.microsoft.com/office/drawing/2010/main" val="0"/>
              </a:ext>
            </a:extLst>
          </a:blip>
          <a:srcRect t="22098" r="14726" b="48018"/>
          <a:stretch>
            <a:fillRect/>
          </a:stretch>
        </p:blipFill>
        <p:spPr>
          <a:xfrm>
            <a:off x="6321176" y="2686649"/>
            <a:ext cx="5870824" cy="1542449"/>
          </a:xfrm>
          <a:prstGeom prst="rect">
            <a:avLst/>
          </a:prstGeom>
        </p:spPr>
      </p:pic>
      <p:sp>
        <p:nvSpPr>
          <p:cNvPr id="11" name="矩形 10"/>
          <p:cNvSpPr/>
          <p:nvPr/>
        </p:nvSpPr>
        <p:spPr>
          <a:xfrm>
            <a:off x="2857500" y="2686049"/>
            <a:ext cx="9334500" cy="1543049"/>
          </a:xfrm>
          <a:prstGeom prst="rect">
            <a:avLst/>
          </a:prstGeom>
          <a:gradFill flip="none" rotWithShape="1">
            <a:gsLst>
              <a:gs pos="35000">
                <a:srgbClr val="014924"/>
              </a:gs>
              <a:gs pos="0">
                <a:srgbClr val="014924"/>
              </a:gs>
              <a:gs pos="59000">
                <a:srgbClr val="014924">
                  <a:alpha val="95000"/>
                </a:srgbClr>
              </a:gs>
              <a:gs pos="77000">
                <a:srgbClr val="014924">
                  <a:alpha val="70000"/>
                </a:srgbClr>
              </a:gs>
              <a:gs pos="100000">
                <a:srgbClr val="014924">
                  <a:alpha val="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23950" y="2686050"/>
            <a:ext cx="1543050" cy="1543050"/>
            <a:chOff x="1123950" y="2686050"/>
            <a:chExt cx="1543050" cy="1543050"/>
          </a:xfrm>
          <a:solidFill>
            <a:srgbClr val="014924"/>
          </a:solidFill>
        </p:grpSpPr>
        <p:sp>
          <p:nvSpPr>
            <p:cNvPr id="10" name="矩形 9"/>
            <p:cNvSpPr/>
            <p:nvPr/>
          </p:nvSpPr>
          <p:spPr>
            <a:xfrm>
              <a:off x="1123950" y="2686050"/>
              <a:ext cx="1543050" cy="15430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407285" y="2903577"/>
              <a:ext cx="976380" cy="1107996"/>
            </a:xfrm>
            <a:prstGeom prst="rect">
              <a:avLst/>
            </a:prstGeom>
            <a:grpFill/>
          </p:spPr>
          <p:txBody>
            <a:bodyPr wrap="square" rtlCol="0">
              <a:spAutoFit/>
            </a:bodyPr>
            <a:lstStyle/>
            <a:p>
              <a:pPr algn="ctr"/>
              <a:r>
                <a:rPr lang="en-US" altLang="zh-CN" sz="6600" b="1" dirty="0">
                  <a:solidFill>
                    <a:schemeClr val="bg1"/>
                  </a:solidFill>
                  <a:latin typeface="微软雅黑" panose="020B0503020204020204" pitchFamily="34" charset="-122"/>
                  <a:ea typeface="微软雅黑" panose="020B0503020204020204" pitchFamily="34" charset="-122"/>
                </a:rPr>
                <a:t>1</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grpSp>
      <p:sp>
        <p:nvSpPr>
          <p:cNvPr id="15" name="文本框 14"/>
          <p:cNvSpPr txBox="1"/>
          <p:nvPr/>
        </p:nvSpPr>
        <p:spPr>
          <a:xfrm>
            <a:off x="3088504" y="3167392"/>
            <a:ext cx="9814696" cy="523216"/>
          </a:xfrm>
          <a:prstGeom prst="rect">
            <a:avLst/>
          </a:prstGeom>
          <a:noFill/>
        </p:spPr>
        <p:txBody>
          <a:bodyPr wrap="square" lIns="91436" tIns="45718" rIns="91436" bIns="45718" rtlCol="0">
            <a:spAutoFit/>
          </a:bodyPr>
          <a:lstStyle/>
          <a:p>
            <a:r>
              <a:rPr lang="en-US" altLang="zh-CN" sz="2800" dirty="0">
                <a:solidFill>
                  <a:schemeClr val="bg1"/>
                </a:solidFill>
                <a:latin typeface="微软雅黑" panose="020B0503020204020204" pitchFamily="34" charset="-122"/>
                <a:ea typeface="微软雅黑" panose="020B0503020204020204" pitchFamily="34" charset="-122"/>
              </a:rPr>
              <a:t>Flow-based Generative Model</a:t>
            </a:r>
          </a:p>
        </p:txBody>
      </p:sp>
      <p:pic>
        <p:nvPicPr>
          <p:cNvPr id="13" name="图片 12"/>
          <p:cNvPicPr>
            <a:picLocks noChangeAspect="1"/>
          </p:cNvPicPr>
          <p:nvPr/>
        </p:nvPicPr>
        <p:blipFill rotWithShape="1">
          <a:blip r:embed="rId4"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
        <p:nvSpPr>
          <p:cNvPr id="3" name="灯片编号占位符 2">
            <a:extLst>
              <a:ext uri="{FF2B5EF4-FFF2-40B4-BE49-F238E27FC236}">
                <a16:creationId xmlns:a16="http://schemas.microsoft.com/office/drawing/2014/main" id="{E0DF437B-7774-4D37-8F3B-CDDC7337C27F}"/>
              </a:ext>
            </a:extLst>
          </p:cNvPr>
          <p:cNvSpPr>
            <a:spLocks noGrp="1"/>
          </p:cNvSpPr>
          <p:nvPr>
            <p:ph type="sldNum" sz="quarter" idx="12"/>
          </p:nvPr>
        </p:nvSpPr>
        <p:spPr/>
        <p:txBody>
          <a:bodyPr/>
          <a:lstStyle/>
          <a:p>
            <a:fld id="{01635508-54A0-4FB0-A4C5-6467DE85E924}" type="slidenum">
              <a:rPr lang="zh-CN" altLang="en-US" smtClean="0"/>
              <a:t>2</a:t>
            </a:fld>
            <a:endParaRPr lang="zh-CN" altLang="en-US"/>
          </a:p>
        </p:txBody>
      </p:sp>
    </p:spTree>
    <p:extLst>
      <p:ext uri="{BB962C8B-B14F-4D97-AF65-F5344CB8AC3E}">
        <p14:creationId xmlns:p14="http://schemas.microsoft.com/office/powerpoint/2010/main" val="459972665"/>
      </p:ext>
    </p:extLst>
  </p:cSld>
  <p:clrMapOvr>
    <a:masterClrMapping/>
  </p:clrMapOvr>
  <mc:AlternateContent xmlns:mc="http://schemas.openxmlformats.org/markup-compatibility/2006" xmlns:p14="http://schemas.microsoft.com/office/powerpoint/2010/main">
    <mc:Choice Requires="p14">
      <p:transition spd="slow" p14:dur="2000" advTm="36622"/>
    </mc:Choice>
    <mc:Fallback xmlns="">
      <p:transition spd="slow" advTm="3662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3</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643890" y="1348315"/>
            <a:ext cx="10568709" cy="460382"/>
          </a:xfrm>
          <a:prstGeom prst="rect">
            <a:avLst/>
          </a:prstGeom>
          <a:noFill/>
        </p:spPr>
        <p:txBody>
          <a:bodyPr wrap="square" rtlCol="0">
            <a:spAutoFit/>
          </a:bodyPr>
          <a:lstStyle/>
          <a:p>
            <a:pPr>
              <a:lnSpc>
                <a:spcPct val="150000"/>
              </a:lnSpc>
            </a:pPr>
            <a:r>
              <a:rPr lang="zh-CN" altLang="en-US" dirty="0"/>
              <a:t>生成模型旨在 将一个分布生成另外一个分布，这个分布可以跟我们想要的真实的分布非常相近。</a:t>
            </a:r>
            <a:endParaRPr lang="en-US" altLang="zh-CN" dirty="0"/>
          </a:p>
        </p:txBody>
      </p:sp>
      <p:pic>
        <p:nvPicPr>
          <p:cNvPr id="5" name="图片 4">
            <a:extLst>
              <a:ext uri="{FF2B5EF4-FFF2-40B4-BE49-F238E27FC236}">
                <a16:creationId xmlns:a16="http://schemas.microsoft.com/office/drawing/2014/main" id="{A0334A5E-DBC8-4F7F-A923-D6685B6E99D2}"/>
              </a:ext>
            </a:extLst>
          </p:cNvPr>
          <p:cNvPicPr>
            <a:picLocks noChangeAspect="1"/>
          </p:cNvPicPr>
          <p:nvPr/>
        </p:nvPicPr>
        <p:blipFill>
          <a:blip r:embed="rId4"/>
          <a:stretch>
            <a:fillRect/>
          </a:stretch>
        </p:blipFill>
        <p:spPr>
          <a:xfrm>
            <a:off x="1628919" y="2130525"/>
            <a:ext cx="8010525" cy="2209800"/>
          </a:xfrm>
          <a:prstGeom prst="rect">
            <a:avLst/>
          </a:prstGeom>
        </p:spPr>
      </p:pic>
      <p:pic>
        <p:nvPicPr>
          <p:cNvPr id="7" name="图片 6">
            <a:extLst>
              <a:ext uri="{FF2B5EF4-FFF2-40B4-BE49-F238E27FC236}">
                <a16:creationId xmlns:a16="http://schemas.microsoft.com/office/drawing/2014/main" id="{5962CF58-C6DA-4536-8616-550507BDC2F3}"/>
              </a:ext>
            </a:extLst>
          </p:cNvPr>
          <p:cNvPicPr>
            <a:picLocks noChangeAspect="1"/>
          </p:cNvPicPr>
          <p:nvPr/>
        </p:nvPicPr>
        <p:blipFill>
          <a:blip r:embed="rId5"/>
          <a:stretch>
            <a:fillRect/>
          </a:stretch>
        </p:blipFill>
        <p:spPr>
          <a:xfrm>
            <a:off x="1628919" y="4348716"/>
            <a:ext cx="4277291" cy="1999243"/>
          </a:xfrm>
          <a:prstGeom prst="rect">
            <a:avLst/>
          </a:prstGeom>
        </p:spPr>
      </p:pic>
      <p:pic>
        <p:nvPicPr>
          <p:cNvPr id="4" name="图片 3">
            <a:extLst>
              <a:ext uri="{FF2B5EF4-FFF2-40B4-BE49-F238E27FC236}">
                <a16:creationId xmlns:a16="http://schemas.microsoft.com/office/drawing/2014/main" id="{A9C563FD-85FB-4BF6-96AF-199C60D89877}"/>
              </a:ext>
            </a:extLst>
          </p:cNvPr>
          <p:cNvPicPr>
            <a:picLocks noChangeAspect="1"/>
          </p:cNvPicPr>
          <p:nvPr/>
        </p:nvPicPr>
        <p:blipFill>
          <a:blip r:embed="rId6"/>
          <a:stretch>
            <a:fillRect/>
          </a:stretch>
        </p:blipFill>
        <p:spPr>
          <a:xfrm>
            <a:off x="5829300" y="4662153"/>
            <a:ext cx="4152900" cy="638175"/>
          </a:xfrm>
          <a:prstGeom prst="rect">
            <a:avLst/>
          </a:prstGeom>
        </p:spPr>
      </p:pic>
    </p:spTree>
    <p:extLst>
      <p:ext uri="{BB962C8B-B14F-4D97-AF65-F5344CB8AC3E}">
        <p14:creationId xmlns:p14="http://schemas.microsoft.com/office/powerpoint/2010/main" val="3443983048"/>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4</a:t>
            </a:fld>
            <a:endParaRPr lang="zh-CN" altLang="en-US"/>
          </a:p>
        </p:txBody>
      </p:sp>
      <p:pic>
        <p:nvPicPr>
          <p:cNvPr id="6" name="图片 5">
            <a:extLst>
              <a:ext uri="{FF2B5EF4-FFF2-40B4-BE49-F238E27FC236}">
                <a16:creationId xmlns:a16="http://schemas.microsoft.com/office/drawing/2014/main" id="{0D6E7897-63BA-456D-B33B-C4FF11579F48}"/>
              </a:ext>
            </a:extLst>
          </p:cNvPr>
          <p:cNvPicPr>
            <a:picLocks noChangeAspect="1"/>
          </p:cNvPicPr>
          <p:nvPr/>
        </p:nvPicPr>
        <p:blipFill>
          <a:blip r:embed="rId4"/>
          <a:stretch>
            <a:fillRect/>
          </a:stretch>
        </p:blipFill>
        <p:spPr>
          <a:xfrm>
            <a:off x="4848236" y="1757993"/>
            <a:ext cx="6768812" cy="3786248"/>
          </a:xfrm>
          <a:prstGeom prst="rect">
            <a:avLst/>
          </a:prstGeom>
        </p:spPr>
      </p:pic>
      <p:sp>
        <p:nvSpPr>
          <p:cNvPr id="13" name="文本框 12">
            <a:extLst>
              <a:ext uri="{FF2B5EF4-FFF2-40B4-BE49-F238E27FC236}">
                <a16:creationId xmlns:a16="http://schemas.microsoft.com/office/drawing/2014/main" id="{B3BF6CB2-0BFC-44F9-A0ED-F5D30C122A64}"/>
              </a:ext>
            </a:extLst>
          </p:cNvPr>
          <p:cNvSpPr txBox="1"/>
          <p:nvPr/>
        </p:nvSpPr>
        <p:spPr>
          <a:xfrm>
            <a:off x="533400" y="2040710"/>
            <a:ext cx="4057073" cy="2953373"/>
          </a:xfrm>
          <a:prstGeom prst="rect">
            <a:avLst/>
          </a:prstGeom>
          <a:noFill/>
        </p:spPr>
        <p:txBody>
          <a:bodyPr wrap="square" rtlCol="0">
            <a:spAutoFit/>
          </a:bodyPr>
          <a:lstStyle/>
          <a:p>
            <a:pPr>
              <a:lnSpc>
                <a:spcPct val="150000"/>
              </a:lnSpc>
            </a:pPr>
            <a:r>
              <a:rPr lang="en-US" altLang="zh-CN" dirty="0"/>
              <a:t>GAN </a:t>
            </a:r>
            <a:r>
              <a:rPr lang="zh-CN" altLang="en-US" dirty="0"/>
              <a:t>通过联合训练一个判别器，但是存在难训练的问题（模式崩塌）。</a:t>
            </a:r>
            <a:endParaRPr lang="en-US" altLang="zh-CN" dirty="0"/>
          </a:p>
          <a:p>
            <a:pPr>
              <a:lnSpc>
                <a:spcPct val="150000"/>
              </a:lnSpc>
            </a:pPr>
            <a:r>
              <a:rPr lang="en-US" altLang="zh-CN" dirty="0"/>
              <a:t>VAE </a:t>
            </a:r>
            <a:r>
              <a:rPr lang="zh-CN" altLang="en-US" dirty="0"/>
              <a:t>通过最优化出一个最优下界，没有直接优化目标函数，所以能力非常有限。</a:t>
            </a:r>
          </a:p>
          <a:p>
            <a:pPr>
              <a:lnSpc>
                <a:spcPct val="150000"/>
              </a:lnSpc>
            </a:pPr>
            <a:r>
              <a:rPr lang="zh-CN" altLang="en-US" dirty="0"/>
              <a:t>流模型则直接去对目标函数进行优化，虽然这对模型的设计会有很高的要求。</a:t>
            </a:r>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5</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643890" y="1154019"/>
            <a:ext cx="6892636" cy="2542363"/>
          </a:xfrm>
          <a:prstGeom prst="rect">
            <a:avLst/>
          </a:prstGeom>
          <a:noFill/>
        </p:spPr>
        <p:txBody>
          <a:bodyPr wrap="square" rtlCol="0">
            <a:spAutoFit/>
          </a:bodyPr>
          <a:lstStyle/>
          <a:p>
            <a:pPr>
              <a:lnSpc>
                <a:spcPct val="150000"/>
              </a:lnSpc>
            </a:pPr>
            <a:r>
              <a:rPr lang="zh-CN" altLang="en-US" dirty="0"/>
              <a:t>前置知识</a:t>
            </a:r>
            <a:r>
              <a:rPr lang="en-US" altLang="zh-CN" dirty="0"/>
              <a:t>1</a:t>
            </a:r>
            <a:r>
              <a:rPr lang="zh-CN" altLang="en-US" dirty="0"/>
              <a:t>： 雅可比矩阵</a:t>
            </a: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dirty="0"/>
              <a:t>一个函数的雅可比矩阵，与这个函数的逆的雅可比矩阵</a:t>
            </a:r>
            <a:endParaRPr lang="en-US" altLang="zh-CN" dirty="0"/>
          </a:p>
          <a:p>
            <a:pPr>
              <a:lnSpc>
                <a:spcPct val="150000"/>
              </a:lnSpc>
            </a:pPr>
            <a:r>
              <a:rPr lang="zh-CN" altLang="en-US" dirty="0"/>
              <a:t>互逆</a:t>
            </a:r>
            <a:endParaRPr lang="en-US" altLang="zh-CN" dirty="0"/>
          </a:p>
        </p:txBody>
      </p:sp>
      <p:pic>
        <p:nvPicPr>
          <p:cNvPr id="5" name="图片 4">
            <a:extLst>
              <a:ext uri="{FF2B5EF4-FFF2-40B4-BE49-F238E27FC236}">
                <a16:creationId xmlns:a16="http://schemas.microsoft.com/office/drawing/2014/main" id="{575B5578-8059-4ED3-B1C0-0FB062FEE265}"/>
              </a:ext>
            </a:extLst>
          </p:cNvPr>
          <p:cNvPicPr>
            <a:picLocks noChangeAspect="1"/>
          </p:cNvPicPr>
          <p:nvPr/>
        </p:nvPicPr>
        <p:blipFill>
          <a:blip r:embed="rId4"/>
          <a:stretch>
            <a:fillRect/>
          </a:stretch>
        </p:blipFill>
        <p:spPr>
          <a:xfrm>
            <a:off x="6511636" y="5197884"/>
            <a:ext cx="4394056" cy="1161031"/>
          </a:xfrm>
          <a:prstGeom prst="rect">
            <a:avLst/>
          </a:prstGeom>
        </p:spPr>
      </p:pic>
      <p:pic>
        <p:nvPicPr>
          <p:cNvPr id="7" name="图片 6">
            <a:extLst>
              <a:ext uri="{FF2B5EF4-FFF2-40B4-BE49-F238E27FC236}">
                <a16:creationId xmlns:a16="http://schemas.microsoft.com/office/drawing/2014/main" id="{2557591E-C593-4352-90EF-1D2E64AFAA6A}"/>
              </a:ext>
            </a:extLst>
          </p:cNvPr>
          <p:cNvPicPr>
            <a:picLocks noChangeAspect="1"/>
          </p:cNvPicPr>
          <p:nvPr/>
        </p:nvPicPr>
        <p:blipFill>
          <a:blip r:embed="rId5"/>
          <a:stretch>
            <a:fillRect/>
          </a:stretch>
        </p:blipFill>
        <p:spPr>
          <a:xfrm>
            <a:off x="6511637" y="750437"/>
            <a:ext cx="4394056" cy="4448192"/>
          </a:xfrm>
          <a:prstGeom prst="rect">
            <a:avLst/>
          </a:prstGeom>
        </p:spPr>
      </p:pic>
    </p:spTree>
    <p:extLst>
      <p:ext uri="{BB962C8B-B14F-4D97-AF65-F5344CB8AC3E}">
        <p14:creationId xmlns:p14="http://schemas.microsoft.com/office/powerpoint/2010/main" val="2495751543"/>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6</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643890" y="1154019"/>
            <a:ext cx="6892636" cy="464871"/>
          </a:xfrm>
          <a:prstGeom prst="rect">
            <a:avLst/>
          </a:prstGeom>
          <a:noFill/>
        </p:spPr>
        <p:txBody>
          <a:bodyPr wrap="square" rtlCol="0">
            <a:spAutoFit/>
          </a:bodyPr>
          <a:lstStyle/>
          <a:p>
            <a:pPr>
              <a:lnSpc>
                <a:spcPct val="150000"/>
              </a:lnSpc>
            </a:pPr>
            <a:r>
              <a:rPr lang="zh-CN" altLang="en-US" dirty="0"/>
              <a:t>前置知识</a:t>
            </a:r>
            <a:r>
              <a:rPr lang="en-US" altLang="zh-CN" dirty="0"/>
              <a:t>2</a:t>
            </a:r>
            <a:r>
              <a:rPr lang="zh-CN" altLang="en-US" dirty="0"/>
              <a:t>： 矩阵行列式</a:t>
            </a:r>
            <a:endParaRPr lang="en-US" altLang="zh-CN" dirty="0"/>
          </a:p>
        </p:txBody>
      </p:sp>
      <p:pic>
        <p:nvPicPr>
          <p:cNvPr id="4" name="图片 3">
            <a:extLst>
              <a:ext uri="{FF2B5EF4-FFF2-40B4-BE49-F238E27FC236}">
                <a16:creationId xmlns:a16="http://schemas.microsoft.com/office/drawing/2014/main" id="{45C15154-E3E4-4A75-8ED6-7144EC626A10}"/>
              </a:ext>
            </a:extLst>
          </p:cNvPr>
          <p:cNvPicPr>
            <a:picLocks noChangeAspect="1"/>
          </p:cNvPicPr>
          <p:nvPr/>
        </p:nvPicPr>
        <p:blipFill>
          <a:blip r:embed="rId4"/>
          <a:stretch>
            <a:fillRect/>
          </a:stretch>
        </p:blipFill>
        <p:spPr>
          <a:xfrm>
            <a:off x="944372" y="2005492"/>
            <a:ext cx="5239527" cy="3698490"/>
          </a:xfrm>
          <a:prstGeom prst="rect">
            <a:avLst/>
          </a:prstGeom>
        </p:spPr>
      </p:pic>
      <p:pic>
        <p:nvPicPr>
          <p:cNvPr id="5" name="图片 4">
            <a:extLst>
              <a:ext uri="{FF2B5EF4-FFF2-40B4-BE49-F238E27FC236}">
                <a16:creationId xmlns:a16="http://schemas.microsoft.com/office/drawing/2014/main" id="{D6B40FD2-6875-4230-8D6B-15A13964078C}"/>
              </a:ext>
            </a:extLst>
          </p:cNvPr>
          <p:cNvPicPr>
            <a:picLocks noChangeAspect="1"/>
          </p:cNvPicPr>
          <p:nvPr/>
        </p:nvPicPr>
        <p:blipFill>
          <a:blip r:embed="rId5"/>
          <a:stretch>
            <a:fillRect/>
          </a:stretch>
        </p:blipFill>
        <p:spPr>
          <a:xfrm>
            <a:off x="6344358" y="2005492"/>
            <a:ext cx="5627337" cy="3698489"/>
          </a:xfrm>
          <a:prstGeom prst="rect">
            <a:avLst/>
          </a:prstGeom>
        </p:spPr>
      </p:pic>
    </p:spTree>
    <p:extLst>
      <p:ext uri="{BB962C8B-B14F-4D97-AF65-F5344CB8AC3E}">
        <p14:creationId xmlns:p14="http://schemas.microsoft.com/office/powerpoint/2010/main" val="28910969"/>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7</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643890" y="1154019"/>
            <a:ext cx="6892636" cy="1295868"/>
          </a:xfrm>
          <a:prstGeom prst="rect">
            <a:avLst/>
          </a:prstGeom>
          <a:noFill/>
        </p:spPr>
        <p:txBody>
          <a:bodyPr wrap="square" rtlCol="0">
            <a:spAutoFit/>
          </a:bodyPr>
          <a:lstStyle/>
          <a:p>
            <a:pPr>
              <a:lnSpc>
                <a:spcPct val="150000"/>
              </a:lnSpc>
            </a:pPr>
            <a:r>
              <a:rPr lang="zh-CN" altLang="en-US" dirty="0"/>
              <a:t>前置知识</a:t>
            </a:r>
            <a:r>
              <a:rPr lang="en-US" altLang="zh-CN" dirty="0"/>
              <a:t>2</a:t>
            </a:r>
            <a:r>
              <a:rPr lang="zh-CN" altLang="en-US" dirty="0"/>
              <a:t>： 矩阵行列式</a:t>
            </a:r>
            <a:endParaRPr lang="en-US" altLang="zh-CN" dirty="0"/>
          </a:p>
          <a:p>
            <a:pPr>
              <a:lnSpc>
                <a:spcPct val="150000"/>
              </a:lnSpc>
            </a:pPr>
            <a:endParaRPr lang="en-US" altLang="zh-CN" dirty="0"/>
          </a:p>
          <a:p>
            <a:pPr>
              <a:lnSpc>
                <a:spcPct val="150000"/>
              </a:lnSpc>
            </a:pPr>
            <a:r>
              <a:rPr lang="zh-CN" altLang="en-US" dirty="0"/>
              <a:t>行列式就是体积。</a:t>
            </a:r>
            <a:endParaRPr lang="en-US" altLang="zh-CN" dirty="0"/>
          </a:p>
        </p:txBody>
      </p:sp>
      <p:pic>
        <p:nvPicPr>
          <p:cNvPr id="6" name="图片 5">
            <a:extLst>
              <a:ext uri="{FF2B5EF4-FFF2-40B4-BE49-F238E27FC236}">
                <a16:creationId xmlns:a16="http://schemas.microsoft.com/office/drawing/2014/main" id="{E5639F56-C868-4387-9334-5C686DDA7B2E}"/>
              </a:ext>
            </a:extLst>
          </p:cNvPr>
          <p:cNvPicPr>
            <a:picLocks noChangeAspect="1"/>
          </p:cNvPicPr>
          <p:nvPr/>
        </p:nvPicPr>
        <p:blipFill>
          <a:blip r:embed="rId4"/>
          <a:stretch>
            <a:fillRect/>
          </a:stretch>
        </p:blipFill>
        <p:spPr>
          <a:xfrm>
            <a:off x="533400" y="2612159"/>
            <a:ext cx="5144077" cy="2375476"/>
          </a:xfrm>
          <a:prstGeom prst="rect">
            <a:avLst/>
          </a:prstGeom>
        </p:spPr>
      </p:pic>
      <p:pic>
        <p:nvPicPr>
          <p:cNvPr id="7" name="图片 6">
            <a:extLst>
              <a:ext uri="{FF2B5EF4-FFF2-40B4-BE49-F238E27FC236}">
                <a16:creationId xmlns:a16="http://schemas.microsoft.com/office/drawing/2014/main" id="{665E428F-CA6E-4A34-8874-7CC6E62C953A}"/>
              </a:ext>
            </a:extLst>
          </p:cNvPr>
          <p:cNvPicPr>
            <a:picLocks noChangeAspect="1"/>
          </p:cNvPicPr>
          <p:nvPr/>
        </p:nvPicPr>
        <p:blipFill>
          <a:blip r:embed="rId5"/>
          <a:stretch>
            <a:fillRect/>
          </a:stretch>
        </p:blipFill>
        <p:spPr>
          <a:xfrm>
            <a:off x="5961495" y="2623705"/>
            <a:ext cx="5144077" cy="2395526"/>
          </a:xfrm>
          <a:prstGeom prst="rect">
            <a:avLst/>
          </a:prstGeom>
        </p:spPr>
      </p:pic>
    </p:spTree>
    <p:extLst>
      <p:ext uri="{BB962C8B-B14F-4D97-AF65-F5344CB8AC3E}">
        <p14:creationId xmlns:p14="http://schemas.microsoft.com/office/powerpoint/2010/main" val="4046236397"/>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8</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643890" y="1154019"/>
            <a:ext cx="6892636" cy="464871"/>
          </a:xfrm>
          <a:prstGeom prst="rect">
            <a:avLst/>
          </a:prstGeom>
          <a:noFill/>
        </p:spPr>
        <p:txBody>
          <a:bodyPr wrap="square" rtlCol="0">
            <a:spAutoFit/>
          </a:bodyPr>
          <a:lstStyle/>
          <a:p>
            <a:pPr>
              <a:lnSpc>
                <a:spcPct val="150000"/>
              </a:lnSpc>
            </a:pPr>
            <a:r>
              <a:rPr lang="zh-CN" altLang="en-US" dirty="0"/>
              <a:t>前置知识</a:t>
            </a:r>
            <a:r>
              <a:rPr lang="en-US" altLang="zh-CN" dirty="0"/>
              <a:t>3</a:t>
            </a:r>
            <a:r>
              <a:rPr lang="zh-CN" altLang="en-US" dirty="0"/>
              <a:t>： 变量代换</a:t>
            </a:r>
            <a:endParaRPr lang="en-US" altLang="zh-CN" dirty="0"/>
          </a:p>
        </p:txBody>
      </p:sp>
      <p:pic>
        <p:nvPicPr>
          <p:cNvPr id="4" name="图片 3">
            <a:extLst>
              <a:ext uri="{FF2B5EF4-FFF2-40B4-BE49-F238E27FC236}">
                <a16:creationId xmlns:a16="http://schemas.microsoft.com/office/drawing/2014/main" id="{10DEF267-BBF8-40A6-B4B7-963645800854}"/>
              </a:ext>
            </a:extLst>
          </p:cNvPr>
          <p:cNvPicPr>
            <a:picLocks noChangeAspect="1"/>
          </p:cNvPicPr>
          <p:nvPr/>
        </p:nvPicPr>
        <p:blipFill>
          <a:blip r:embed="rId4"/>
          <a:stretch>
            <a:fillRect/>
          </a:stretch>
        </p:blipFill>
        <p:spPr>
          <a:xfrm>
            <a:off x="53113" y="2477871"/>
            <a:ext cx="3943341" cy="2335777"/>
          </a:xfrm>
          <a:prstGeom prst="rect">
            <a:avLst/>
          </a:prstGeom>
        </p:spPr>
      </p:pic>
      <p:pic>
        <p:nvPicPr>
          <p:cNvPr id="5" name="图片 4">
            <a:extLst>
              <a:ext uri="{FF2B5EF4-FFF2-40B4-BE49-F238E27FC236}">
                <a16:creationId xmlns:a16="http://schemas.microsoft.com/office/drawing/2014/main" id="{E35EF0E0-E61E-4869-87CC-8A2AC51DF1BF}"/>
              </a:ext>
            </a:extLst>
          </p:cNvPr>
          <p:cNvPicPr>
            <a:picLocks noChangeAspect="1"/>
          </p:cNvPicPr>
          <p:nvPr/>
        </p:nvPicPr>
        <p:blipFill>
          <a:blip r:embed="rId5"/>
          <a:stretch>
            <a:fillRect/>
          </a:stretch>
        </p:blipFill>
        <p:spPr>
          <a:xfrm>
            <a:off x="4124329" y="2450376"/>
            <a:ext cx="3943341" cy="2363272"/>
          </a:xfrm>
          <a:prstGeom prst="rect">
            <a:avLst/>
          </a:prstGeom>
        </p:spPr>
      </p:pic>
      <p:pic>
        <p:nvPicPr>
          <p:cNvPr id="7" name="图片 6">
            <a:extLst>
              <a:ext uri="{FF2B5EF4-FFF2-40B4-BE49-F238E27FC236}">
                <a16:creationId xmlns:a16="http://schemas.microsoft.com/office/drawing/2014/main" id="{2FA4C1F5-8080-4657-A2F4-CDECF27F1FA8}"/>
              </a:ext>
            </a:extLst>
          </p:cNvPr>
          <p:cNvPicPr>
            <a:picLocks noChangeAspect="1"/>
          </p:cNvPicPr>
          <p:nvPr/>
        </p:nvPicPr>
        <p:blipFill>
          <a:blip r:embed="rId6"/>
          <a:stretch>
            <a:fillRect/>
          </a:stretch>
        </p:blipFill>
        <p:spPr>
          <a:xfrm>
            <a:off x="8164652" y="2477871"/>
            <a:ext cx="3884500" cy="2335778"/>
          </a:xfrm>
          <a:prstGeom prst="rect">
            <a:avLst/>
          </a:prstGeom>
        </p:spPr>
      </p:pic>
    </p:spTree>
    <p:extLst>
      <p:ext uri="{BB962C8B-B14F-4D97-AF65-F5344CB8AC3E}">
        <p14:creationId xmlns:p14="http://schemas.microsoft.com/office/powerpoint/2010/main" val="2904385169"/>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9</a:t>
            </a:fld>
            <a:endParaRPr lang="zh-CN" altLang="en-US"/>
          </a:p>
        </p:txBody>
      </p:sp>
      <p:sp>
        <p:nvSpPr>
          <p:cNvPr id="13" name="文本框 12">
            <a:extLst>
              <a:ext uri="{FF2B5EF4-FFF2-40B4-BE49-F238E27FC236}">
                <a16:creationId xmlns:a16="http://schemas.microsoft.com/office/drawing/2014/main" id="{B3BF6CB2-0BFC-44F9-A0ED-F5D30C122A64}"/>
              </a:ext>
            </a:extLst>
          </p:cNvPr>
          <p:cNvSpPr txBox="1"/>
          <p:nvPr/>
        </p:nvSpPr>
        <p:spPr>
          <a:xfrm>
            <a:off x="643890" y="1154019"/>
            <a:ext cx="6892636" cy="464871"/>
          </a:xfrm>
          <a:prstGeom prst="rect">
            <a:avLst/>
          </a:prstGeom>
          <a:noFill/>
        </p:spPr>
        <p:txBody>
          <a:bodyPr wrap="square" rtlCol="0">
            <a:spAutoFit/>
          </a:bodyPr>
          <a:lstStyle/>
          <a:p>
            <a:pPr>
              <a:lnSpc>
                <a:spcPct val="150000"/>
              </a:lnSpc>
            </a:pPr>
            <a:r>
              <a:rPr lang="zh-CN" altLang="en-US" dirty="0"/>
              <a:t>前置知识</a:t>
            </a:r>
            <a:r>
              <a:rPr lang="en-US" altLang="zh-CN" dirty="0"/>
              <a:t>3</a:t>
            </a:r>
            <a:r>
              <a:rPr lang="zh-CN" altLang="en-US" dirty="0"/>
              <a:t>： 变量代换</a:t>
            </a:r>
            <a:endParaRPr lang="en-US" altLang="zh-CN" dirty="0"/>
          </a:p>
        </p:txBody>
      </p:sp>
      <p:pic>
        <p:nvPicPr>
          <p:cNvPr id="4" name="图片 3">
            <a:extLst>
              <a:ext uri="{FF2B5EF4-FFF2-40B4-BE49-F238E27FC236}">
                <a16:creationId xmlns:a16="http://schemas.microsoft.com/office/drawing/2014/main" id="{BEF12AEC-65E2-40FB-B7FE-8E7FAE680F81}"/>
              </a:ext>
            </a:extLst>
          </p:cNvPr>
          <p:cNvPicPr>
            <a:picLocks noChangeAspect="1"/>
          </p:cNvPicPr>
          <p:nvPr/>
        </p:nvPicPr>
        <p:blipFill>
          <a:blip r:embed="rId4"/>
          <a:stretch>
            <a:fillRect/>
          </a:stretch>
        </p:blipFill>
        <p:spPr>
          <a:xfrm>
            <a:off x="381722" y="2226809"/>
            <a:ext cx="5474134" cy="3053927"/>
          </a:xfrm>
          <a:prstGeom prst="rect">
            <a:avLst/>
          </a:prstGeom>
        </p:spPr>
      </p:pic>
      <p:pic>
        <p:nvPicPr>
          <p:cNvPr id="6" name="图片 5">
            <a:extLst>
              <a:ext uri="{FF2B5EF4-FFF2-40B4-BE49-F238E27FC236}">
                <a16:creationId xmlns:a16="http://schemas.microsoft.com/office/drawing/2014/main" id="{76506AE9-7EF8-4452-8702-7014FEBE7E8C}"/>
              </a:ext>
            </a:extLst>
          </p:cNvPr>
          <p:cNvPicPr>
            <a:picLocks noChangeAspect="1"/>
          </p:cNvPicPr>
          <p:nvPr/>
        </p:nvPicPr>
        <p:blipFill>
          <a:blip r:embed="rId5"/>
          <a:stretch>
            <a:fillRect/>
          </a:stretch>
        </p:blipFill>
        <p:spPr>
          <a:xfrm>
            <a:off x="5990832" y="1613264"/>
            <a:ext cx="5746982" cy="4279537"/>
          </a:xfrm>
          <a:prstGeom prst="rect">
            <a:avLst/>
          </a:prstGeom>
        </p:spPr>
      </p:pic>
    </p:spTree>
    <p:extLst>
      <p:ext uri="{BB962C8B-B14F-4D97-AF65-F5344CB8AC3E}">
        <p14:creationId xmlns:p14="http://schemas.microsoft.com/office/powerpoint/2010/main" val="244093984"/>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10</a:t>
            </a:fld>
            <a:endParaRPr lang="zh-CN" altLang="en-US"/>
          </a:p>
        </p:txBody>
      </p:sp>
      <p:pic>
        <p:nvPicPr>
          <p:cNvPr id="4" name="图片 3">
            <a:extLst>
              <a:ext uri="{FF2B5EF4-FFF2-40B4-BE49-F238E27FC236}">
                <a16:creationId xmlns:a16="http://schemas.microsoft.com/office/drawing/2014/main" id="{3BB50074-9AD4-4310-8576-D0E14BF4C88D}"/>
              </a:ext>
            </a:extLst>
          </p:cNvPr>
          <p:cNvPicPr>
            <a:picLocks noChangeAspect="1"/>
          </p:cNvPicPr>
          <p:nvPr/>
        </p:nvPicPr>
        <p:blipFill>
          <a:blip r:embed="rId4"/>
          <a:stretch>
            <a:fillRect/>
          </a:stretch>
        </p:blipFill>
        <p:spPr>
          <a:xfrm>
            <a:off x="1084492" y="1318252"/>
            <a:ext cx="6193762" cy="4633803"/>
          </a:xfrm>
          <a:prstGeom prst="rect">
            <a:avLst/>
          </a:prstGeom>
        </p:spPr>
      </p:pic>
      <p:sp>
        <p:nvSpPr>
          <p:cNvPr id="12" name="文本框 11">
            <a:extLst>
              <a:ext uri="{FF2B5EF4-FFF2-40B4-BE49-F238E27FC236}">
                <a16:creationId xmlns:a16="http://schemas.microsoft.com/office/drawing/2014/main" id="{C7FE57B1-2AE2-447E-A894-94A00D766B5E}"/>
              </a:ext>
            </a:extLst>
          </p:cNvPr>
          <p:cNvSpPr txBox="1"/>
          <p:nvPr/>
        </p:nvSpPr>
        <p:spPr>
          <a:xfrm>
            <a:off x="7633506" y="2443259"/>
            <a:ext cx="3078365" cy="2542363"/>
          </a:xfrm>
          <a:prstGeom prst="rect">
            <a:avLst/>
          </a:prstGeom>
          <a:noFill/>
        </p:spPr>
        <p:txBody>
          <a:bodyPr wrap="square" rtlCol="0">
            <a:spAutoFit/>
          </a:bodyPr>
          <a:lstStyle/>
          <a:p>
            <a:pPr>
              <a:lnSpc>
                <a:spcPct val="150000"/>
              </a:lnSpc>
            </a:pPr>
            <a:r>
              <a:rPr lang="zh-CN" altLang="en-US" dirty="0"/>
              <a:t>对生成器有很高的要求，首先要保证行列式很好算，不然在行列式计算过程中就会耗费更多的时间；另外要保证这个函数可逆。</a:t>
            </a:r>
            <a:endParaRPr lang="en-US" altLang="zh-CN" dirty="0"/>
          </a:p>
          <a:p>
            <a:pPr>
              <a:lnSpc>
                <a:spcPct val="150000"/>
              </a:lnSpc>
            </a:pPr>
            <a:endParaRPr lang="en-US" altLang="zh-CN" dirty="0"/>
          </a:p>
        </p:txBody>
      </p:sp>
    </p:spTree>
    <p:extLst>
      <p:ext uri="{BB962C8B-B14F-4D97-AF65-F5344CB8AC3E}">
        <p14:creationId xmlns:p14="http://schemas.microsoft.com/office/powerpoint/2010/main" val="3224120031"/>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11</a:t>
            </a:fld>
            <a:endParaRPr lang="zh-CN" altLang="en-US"/>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C7FE57B1-2AE2-447E-A894-94A00D766B5E}"/>
                  </a:ext>
                </a:extLst>
              </p:cNvPr>
              <p:cNvSpPr txBox="1"/>
              <p:nvPr/>
            </p:nvSpPr>
            <p:spPr>
              <a:xfrm>
                <a:off x="533400" y="1066995"/>
                <a:ext cx="11464895" cy="1754326"/>
              </a:xfrm>
              <a:prstGeom prst="rect">
                <a:avLst/>
              </a:prstGeom>
              <a:noFill/>
            </p:spPr>
            <p:txBody>
              <a:bodyPr wrap="square" rtlCol="0">
                <a:spAutoFit/>
              </a:bodyPr>
              <a:lstStyle/>
              <a:p>
                <a:pPr>
                  <a:lnSpc>
                    <a:spcPct val="150000"/>
                  </a:lnSpc>
                </a:pPr>
                <a:r>
                  <a:rPr lang="zh-CN" altLang="en-US" dirty="0"/>
                  <a:t>如何设计这样一个生成器？</a:t>
                </a:r>
                <a:endParaRPr lang="en-US" altLang="zh-CN" dirty="0"/>
              </a:p>
              <a:p>
                <a:pPr>
                  <a:lnSpc>
                    <a:spcPct val="150000"/>
                  </a:lnSpc>
                </a:pPr>
                <a:r>
                  <a:rPr lang="zh-CN" altLang="en-US" dirty="0"/>
                  <a:t>相对而言，行列式的计算要比函数求逆要困难，所以我们从行列式计算出发思考。（三角矩阵的行列式很好计算）</a:t>
                </a:r>
                <a:endParaRPr lang="en-US" altLang="zh-CN" dirty="0"/>
              </a:p>
              <a:p>
                <a:pPr>
                  <a:lnSpc>
                    <a:spcPct val="150000"/>
                  </a:lnSpc>
                </a:pPr>
                <a:r>
                  <a:rPr lang="zh-CN" altLang="en-US" dirty="0"/>
                  <a:t>将</a:t>
                </a:r>
                <a:r>
                  <a:rPr lang="en-US" altLang="zh-CN" dirty="0"/>
                  <a:t>D</a:t>
                </a:r>
                <a:r>
                  <a:rPr lang="zh-CN" altLang="en-US" dirty="0"/>
                  <a:t>维的</a:t>
                </a:r>
                <a:r>
                  <a:rPr lang="en-US" altLang="zh-CN" dirty="0"/>
                  <a:t>x</a:t>
                </a:r>
                <a:r>
                  <a:rPr lang="zh-CN" altLang="en-US" dirty="0"/>
                  <a:t>分为两部分</a:t>
                </a:r>
                <a:r>
                  <a:rPr lang="en-US" altLang="zh-CN" dirty="0"/>
                  <a:t>x1,x2</a:t>
                </a:r>
                <a:r>
                  <a:rPr lang="zh-CN" altLang="en-US" dirty="0"/>
                  <a:t>，然后</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    </m:t>
                        </m:r>
                        <m:r>
                          <a:rPr lang="en-US" altLang="zh-CN" b="0" i="1" smtClean="0">
                            <a:latin typeface="Cambria Math" panose="02040503050406030204" pitchFamily="18" charset="0"/>
                          </a:rPr>
                          <m:t>h</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h</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𝑥</m:t>
                    </m:r>
                    <m:r>
                      <a:rPr lang="en-US" altLang="zh-CN" b="0" i="1" smtClean="0">
                        <a:latin typeface="Cambria Math" panose="02040503050406030204" pitchFamily="18" charset="0"/>
                      </a:rPr>
                      <m:t>1∗</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1</m:t>
                        </m:r>
                      </m:sub>
                    </m:sSub>
                  </m:oMath>
                </a14:m>
                <a:r>
                  <a:rPr lang="zh-CN" altLang="en-US" dirty="0"/>
                  <a:t>        （分块</a:t>
                </a:r>
                <a14:m>
                  <m:oMath xmlns:m="http://schemas.openxmlformats.org/officeDocument/2006/math">
                    <m:r>
                      <a:rPr lang="zh-CN" altLang="en-US" i="1" dirty="0">
                        <a:latin typeface="Cambria Math" panose="02040503050406030204" pitchFamily="18" charset="0"/>
                      </a:rPr>
                      <m:t>耦合层</m:t>
                    </m:r>
                  </m:oMath>
                </a14:m>
                <a:r>
                  <a:rPr lang="zh-CN" altLang="en-US" b="0" i="1" dirty="0">
                    <a:latin typeface="Cambria Math" panose="02040503050406030204" pitchFamily="18" charset="0"/>
                  </a:rPr>
                  <a:t>）</a:t>
                </a:r>
                <a:endParaRPr lang="en-US" altLang="zh-CN" b="0" i="1" dirty="0">
                  <a:latin typeface="Cambria Math" panose="02040503050406030204" pitchFamily="18" charset="0"/>
                </a:endParaRPr>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 </m:t>
                      </m:r>
                    </m:oMath>
                  </m:oMathPara>
                </a14:m>
                <a:endParaRPr lang="en-US" altLang="zh-CN" dirty="0"/>
              </a:p>
            </p:txBody>
          </p:sp>
        </mc:Choice>
        <mc:Fallback xmlns="">
          <p:sp>
            <p:nvSpPr>
              <p:cNvPr id="12" name="文本框 11">
                <a:extLst>
                  <a:ext uri="{FF2B5EF4-FFF2-40B4-BE49-F238E27FC236}">
                    <a16:creationId xmlns:a16="http://schemas.microsoft.com/office/drawing/2014/main" id="{C7FE57B1-2AE2-447E-A894-94A00D766B5E}"/>
                  </a:ext>
                </a:extLst>
              </p:cNvPr>
              <p:cNvSpPr txBox="1">
                <a:spLocks noRot="1" noChangeAspect="1" noMove="1" noResize="1" noEditPoints="1" noAdjustHandles="1" noChangeArrowheads="1" noChangeShapeType="1" noTextEdit="1"/>
              </p:cNvSpPr>
              <p:nvPr/>
            </p:nvSpPr>
            <p:spPr>
              <a:xfrm>
                <a:off x="533400" y="1066995"/>
                <a:ext cx="11464895" cy="1754326"/>
              </a:xfrm>
              <a:prstGeom prst="rect">
                <a:avLst/>
              </a:prstGeom>
              <a:blipFill>
                <a:blip r:embed="rId4"/>
                <a:stretch>
                  <a:fillRect l="-479" r="-1702"/>
                </a:stretch>
              </a:blipFill>
            </p:spPr>
            <p:txBody>
              <a:bodyPr/>
              <a:lstStyle/>
              <a:p>
                <a:r>
                  <a:rPr lang="zh-CN" altLang="en-US">
                    <a:noFill/>
                  </a:rPr>
                  <a:t> </a:t>
                </a:r>
              </a:p>
            </p:txBody>
          </p:sp>
        </mc:Fallback>
      </mc:AlternateContent>
      <p:pic>
        <p:nvPicPr>
          <p:cNvPr id="1026" name="Picture 2" descr="https://spaces.ac.cn/usr/uploads/2018/08/996304282.png">
            <a:extLst>
              <a:ext uri="{FF2B5EF4-FFF2-40B4-BE49-F238E27FC236}">
                <a16:creationId xmlns:a16="http://schemas.microsoft.com/office/drawing/2014/main" id="{541EC4A4-5F1D-4111-96AB-D9E818B27A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41577" y="2461153"/>
            <a:ext cx="8648700" cy="176212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 3">
            <a:extLst>
              <a:ext uri="{FF2B5EF4-FFF2-40B4-BE49-F238E27FC236}">
                <a16:creationId xmlns:a16="http://schemas.microsoft.com/office/drawing/2014/main" id="{18209040-4B2C-480C-BF0E-9BCD7AE6AE2A}"/>
              </a:ext>
            </a:extLst>
          </p:cNvPr>
          <p:cNvSpPr/>
          <p:nvPr/>
        </p:nvSpPr>
        <p:spPr>
          <a:xfrm>
            <a:off x="1802623" y="4551240"/>
            <a:ext cx="89016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F06B77EE-CD1C-4CC5-B898-6717048A74CD}"/>
                  </a:ext>
                </a:extLst>
              </p:cNvPr>
              <p:cNvSpPr/>
              <p:nvPr/>
            </p:nvSpPr>
            <p:spPr>
              <a:xfrm>
                <a:off x="1802623" y="4523652"/>
                <a:ext cx="673005"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    </m:t>
                          </m:r>
                          <m:r>
                            <a:rPr lang="en-US" altLang="zh-CN" i="1">
                              <a:latin typeface="Cambria Math" panose="02040503050406030204" pitchFamily="18" charset="0"/>
                            </a:rPr>
                            <m:t>h</m:t>
                          </m:r>
                        </m:e>
                        <m:sub>
                          <m:r>
                            <a:rPr lang="en-US" altLang="zh-CN" i="1">
                              <a:latin typeface="Cambria Math" panose="02040503050406030204" pitchFamily="18" charset="0"/>
                            </a:rPr>
                            <m:t>1</m:t>
                          </m:r>
                        </m:sub>
                      </m:sSub>
                    </m:oMath>
                  </m:oMathPara>
                </a14:m>
                <a:endParaRPr lang="zh-CN" altLang="en-US" dirty="0"/>
              </a:p>
            </p:txBody>
          </p:sp>
        </mc:Choice>
        <mc:Fallback xmlns="">
          <p:sp>
            <p:nvSpPr>
              <p:cNvPr id="5" name="矩形 4">
                <a:extLst>
                  <a:ext uri="{FF2B5EF4-FFF2-40B4-BE49-F238E27FC236}">
                    <a16:creationId xmlns:a16="http://schemas.microsoft.com/office/drawing/2014/main" id="{F06B77EE-CD1C-4CC5-B898-6717048A74CD}"/>
                  </a:ext>
                </a:extLst>
              </p:cNvPr>
              <p:cNvSpPr>
                <a:spLocks noRot="1" noChangeAspect="1" noMove="1" noResize="1" noEditPoints="1" noAdjustHandles="1" noChangeArrowheads="1" noChangeShapeType="1" noTextEdit="1"/>
              </p:cNvSpPr>
              <p:nvPr/>
            </p:nvSpPr>
            <p:spPr>
              <a:xfrm>
                <a:off x="1802623" y="4523652"/>
                <a:ext cx="673005" cy="369332"/>
              </a:xfrm>
              <a:prstGeom prst="rect">
                <a:avLst/>
              </a:prstGeom>
              <a:blipFill>
                <a:blip r:embed="rId6"/>
                <a:stretch>
                  <a:fillRect/>
                </a:stretch>
              </a:blipFill>
            </p:spPr>
            <p:txBody>
              <a:bodyPr/>
              <a:lstStyle/>
              <a:p>
                <a:r>
                  <a:rPr lang="zh-CN" altLang="en-US">
                    <a:noFill/>
                  </a:rPr>
                  <a:t> </a:t>
                </a:r>
              </a:p>
            </p:txBody>
          </p:sp>
        </mc:Fallback>
      </mc:AlternateContent>
      <p:sp>
        <p:nvSpPr>
          <p:cNvPr id="15" name="矩形 14">
            <a:extLst>
              <a:ext uri="{FF2B5EF4-FFF2-40B4-BE49-F238E27FC236}">
                <a16:creationId xmlns:a16="http://schemas.microsoft.com/office/drawing/2014/main" id="{78FBF22B-4940-4CB9-B75E-85038EEBDAD9}"/>
              </a:ext>
            </a:extLst>
          </p:cNvPr>
          <p:cNvSpPr/>
          <p:nvPr/>
        </p:nvSpPr>
        <p:spPr>
          <a:xfrm>
            <a:off x="2929771" y="4551240"/>
            <a:ext cx="89016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6" name="矩形 15">
                <a:extLst>
                  <a:ext uri="{FF2B5EF4-FFF2-40B4-BE49-F238E27FC236}">
                    <a16:creationId xmlns:a16="http://schemas.microsoft.com/office/drawing/2014/main" id="{EF2FEAD7-B54D-42ED-85A6-D4041F75BCE9}"/>
                  </a:ext>
                </a:extLst>
              </p:cNvPr>
              <p:cNvSpPr/>
              <p:nvPr/>
            </p:nvSpPr>
            <p:spPr>
              <a:xfrm>
                <a:off x="2929771" y="4523532"/>
                <a:ext cx="67832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    </m:t>
                          </m:r>
                          <m:r>
                            <a:rPr lang="en-US" altLang="zh-CN" i="1">
                              <a:latin typeface="Cambria Math" panose="02040503050406030204" pitchFamily="18" charset="0"/>
                            </a:rPr>
                            <m:t>h</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16" name="矩形 15">
                <a:extLst>
                  <a:ext uri="{FF2B5EF4-FFF2-40B4-BE49-F238E27FC236}">
                    <a16:creationId xmlns:a16="http://schemas.microsoft.com/office/drawing/2014/main" id="{EF2FEAD7-B54D-42ED-85A6-D4041F75BCE9}"/>
                  </a:ext>
                </a:extLst>
              </p:cNvPr>
              <p:cNvSpPr>
                <a:spLocks noRot="1" noChangeAspect="1" noMove="1" noResize="1" noEditPoints="1" noAdjustHandles="1" noChangeArrowheads="1" noChangeShapeType="1" noTextEdit="1"/>
              </p:cNvSpPr>
              <p:nvPr/>
            </p:nvSpPr>
            <p:spPr>
              <a:xfrm>
                <a:off x="2929771" y="4523532"/>
                <a:ext cx="678326" cy="369332"/>
              </a:xfrm>
              <a:prstGeom prst="rect">
                <a:avLst/>
              </a:prstGeom>
              <a:blipFill>
                <a:blip r:embed="rId7"/>
                <a:stretch>
                  <a:fillRect/>
                </a:stretch>
              </a:blipFill>
            </p:spPr>
            <p:txBody>
              <a:bodyPr/>
              <a:lstStyle/>
              <a:p>
                <a:r>
                  <a:rPr lang="zh-CN" altLang="en-US">
                    <a:noFill/>
                  </a:rPr>
                  <a:t> </a:t>
                </a:r>
              </a:p>
            </p:txBody>
          </p:sp>
        </mc:Fallback>
      </mc:AlternateContent>
      <p:sp>
        <p:nvSpPr>
          <p:cNvPr id="17" name="矩形 16">
            <a:extLst>
              <a:ext uri="{FF2B5EF4-FFF2-40B4-BE49-F238E27FC236}">
                <a16:creationId xmlns:a16="http://schemas.microsoft.com/office/drawing/2014/main" id="{F180C8D3-844B-4875-8D90-1433866879AF}"/>
              </a:ext>
            </a:extLst>
          </p:cNvPr>
          <p:cNvSpPr/>
          <p:nvPr/>
        </p:nvSpPr>
        <p:spPr>
          <a:xfrm rot="5400000">
            <a:off x="1031488" y="5100743"/>
            <a:ext cx="720558" cy="3048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020A8B2C-C5AA-4FC7-9888-49F59D28A0C8}"/>
                  </a:ext>
                </a:extLst>
              </p:cNvPr>
              <p:cNvSpPr/>
              <p:nvPr/>
            </p:nvSpPr>
            <p:spPr>
              <a:xfrm>
                <a:off x="983264" y="5068477"/>
                <a:ext cx="66595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    </m:t>
                          </m:r>
                          <m:r>
                            <a:rPr lang="en-US" altLang="zh-CN" b="0" i="1" smtClean="0">
                              <a:latin typeface="Cambria Math" panose="02040503050406030204" pitchFamily="18" charset="0"/>
                            </a:rPr>
                            <m:t>𝑥</m:t>
                          </m:r>
                        </m:e>
                        <m:sub>
                          <m:r>
                            <a:rPr lang="en-US" altLang="zh-CN" i="1">
                              <a:latin typeface="Cambria Math" panose="02040503050406030204" pitchFamily="18" charset="0"/>
                            </a:rPr>
                            <m:t>1</m:t>
                          </m:r>
                        </m:sub>
                      </m:sSub>
                    </m:oMath>
                  </m:oMathPara>
                </a14:m>
                <a:endParaRPr lang="zh-CN" altLang="en-US" dirty="0"/>
              </a:p>
            </p:txBody>
          </p:sp>
        </mc:Choice>
        <mc:Fallback xmlns="">
          <p:sp>
            <p:nvSpPr>
              <p:cNvPr id="18" name="矩形 17">
                <a:extLst>
                  <a:ext uri="{FF2B5EF4-FFF2-40B4-BE49-F238E27FC236}">
                    <a16:creationId xmlns:a16="http://schemas.microsoft.com/office/drawing/2014/main" id="{020A8B2C-C5AA-4FC7-9888-49F59D28A0C8}"/>
                  </a:ext>
                </a:extLst>
              </p:cNvPr>
              <p:cNvSpPr>
                <a:spLocks noRot="1" noChangeAspect="1" noMove="1" noResize="1" noEditPoints="1" noAdjustHandles="1" noChangeArrowheads="1" noChangeShapeType="1" noTextEdit="1"/>
              </p:cNvSpPr>
              <p:nvPr/>
            </p:nvSpPr>
            <p:spPr>
              <a:xfrm>
                <a:off x="983264" y="5068477"/>
                <a:ext cx="665952" cy="369332"/>
              </a:xfrm>
              <a:prstGeom prst="rect">
                <a:avLst/>
              </a:prstGeom>
              <a:blipFill>
                <a:blip r:embed="rId8"/>
                <a:stretch>
                  <a:fillRect/>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BDFDA8DD-E5E6-49AE-9A49-98BD64A8AF7D}"/>
              </a:ext>
            </a:extLst>
          </p:cNvPr>
          <p:cNvSpPr/>
          <p:nvPr/>
        </p:nvSpPr>
        <p:spPr>
          <a:xfrm rot="5400000">
            <a:off x="1031488" y="6026233"/>
            <a:ext cx="720558" cy="304800"/>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3DEED65A-970B-48BA-9734-AC32D9BA6644}"/>
                  </a:ext>
                </a:extLst>
              </p:cNvPr>
              <p:cNvSpPr/>
              <p:nvPr/>
            </p:nvSpPr>
            <p:spPr>
              <a:xfrm>
                <a:off x="983264" y="5993967"/>
                <a:ext cx="665952"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en-US" altLang="zh-CN" i="1">
                              <a:latin typeface="Cambria Math" panose="02040503050406030204" pitchFamily="18" charset="0"/>
                            </a:rPr>
                            <m:t>    </m:t>
                          </m:r>
                          <m:r>
                            <a:rPr lang="en-US" altLang="zh-CN" b="0" i="1" smtClean="0">
                              <a:latin typeface="Cambria Math" panose="02040503050406030204" pitchFamily="18" charset="0"/>
                            </a:rPr>
                            <m:t>𝑥</m:t>
                          </m:r>
                        </m:e>
                        <m:sub>
                          <m:r>
                            <a:rPr lang="en-US" altLang="zh-CN" b="0" i="1" smtClean="0">
                              <a:latin typeface="Cambria Math" panose="02040503050406030204" pitchFamily="18" charset="0"/>
                            </a:rPr>
                            <m:t>2</m:t>
                          </m:r>
                        </m:sub>
                      </m:sSub>
                    </m:oMath>
                  </m:oMathPara>
                </a14:m>
                <a:endParaRPr lang="zh-CN" altLang="en-US" dirty="0"/>
              </a:p>
            </p:txBody>
          </p:sp>
        </mc:Choice>
        <mc:Fallback xmlns="">
          <p:sp>
            <p:nvSpPr>
              <p:cNvPr id="20" name="矩形 19">
                <a:extLst>
                  <a:ext uri="{FF2B5EF4-FFF2-40B4-BE49-F238E27FC236}">
                    <a16:creationId xmlns:a16="http://schemas.microsoft.com/office/drawing/2014/main" id="{3DEED65A-970B-48BA-9734-AC32D9BA6644}"/>
                  </a:ext>
                </a:extLst>
              </p:cNvPr>
              <p:cNvSpPr>
                <a:spLocks noRot="1" noChangeAspect="1" noMove="1" noResize="1" noEditPoints="1" noAdjustHandles="1" noChangeArrowheads="1" noChangeShapeType="1" noTextEdit="1"/>
              </p:cNvSpPr>
              <p:nvPr/>
            </p:nvSpPr>
            <p:spPr>
              <a:xfrm>
                <a:off x="983264" y="5993967"/>
                <a:ext cx="665952" cy="369332"/>
              </a:xfrm>
              <a:prstGeom prst="rect">
                <a:avLst/>
              </a:prstGeom>
              <a:blipFill>
                <a:blip r:embed="rId9"/>
                <a:stretch>
                  <a:fillRect/>
                </a:stretch>
              </a:blipFill>
            </p:spPr>
            <p:txBody>
              <a:bodyPr/>
              <a:lstStyle/>
              <a:p>
                <a:r>
                  <a:rPr lang="zh-CN" altLang="en-US">
                    <a:noFill/>
                  </a:rPr>
                  <a:t> </a:t>
                </a:r>
              </a:p>
            </p:txBody>
          </p:sp>
        </mc:Fallback>
      </mc:AlternateContent>
      <p:cxnSp>
        <p:nvCxnSpPr>
          <p:cNvPr id="8" name="直接连接符 7">
            <a:extLst>
              <a:ext uri="{FF2B5EF4-FFF2-40B4-BE49-F238E27FC236}">
                <a16:creationId xmlns:a16="http://schemas.microsoft.com/office/drawing/2014/main" id="{681E98DB-7837-4537-B979-64A5FE27B3C6}"/>
              </a:ext>
            </a:extLst>
          </p:cNvPr>
          <p:cNvCxnSpPr/>
          <p:nvPr/>
        </p:nvCxnSpPr>
        <p:spPr>
          <a:xfrm>
            <a:off x="1239367" y="5742731"/>
            <a:ext cx="276498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3B1BC131-6ADF-4331-9B16-675143EA75FA}"/>
              </a:ext>
            </a:extLst>
          </p:cNvPr>
          <p:cNvCxnSpPr>
            <a:cxnSpLocks/>
          </p:cNvCxnSpPr>
          <p:nvPr/>
        </p:nvCxnSpPr>
        <p:spPr>
          <a:xfrm>
            <a:off x="2803619" y="4523532"/>
            <a:ext cx="0" cy="220489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40C35482-49DA-47FA-ADA1-13DD7B993AB5}"/>
                  </a:ext>
                </a:extLst>
              </p:cNvPr>
              <p:cNvSpPr txBox="1"/>
              <p:nvPr/>
            </p:nvSpPr>
            <p:spPr>
              <a:xfrm>
                <a:off x="2093217" y="5186409"/>
                <a:ext cx="1282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Ι</m:t>
                      </m:r>
                    </m:oMath>
                  </m:oMathPara>
                </a14:m>
                <a:endParaRPr lang="zh-CN" altLang="en-US" dirty="0"/>
              </a:p>
            </p:txBody>
          </p:sp>
        </mc:Choice>
        <mc:Fallback xmlns="">
          <p:sp>
            <p:nvSpPr>
              <p:cNvPr id="11" name="文本框 10">
                <a:extLst>
                  <a:ext uri="{FF2B5EF4-FFF2-40B4-BE49-F238E27FC236}">
                    <a16:creationId xmlns:a16="http://schemas.microsoft.com/office/drawing/2014/main" id="{40C35482-49DA-47FA-ADA1-13DD7B993AB5}"/>
                  </a:ext>
                </a:extLst>
              </p:cNvPr>
              <p:cNvSpPr txBox="1">
                <a:spLocks noRot="1" noChangeAspect="1" noMove="1" noResize="1" noEditPoints="1" noAdjustHandles="1" noChangeArrowheads="1" noChangeShapeType="1" noTextEdit="1"/>
              </p:cNvSpPr>
              <p:nvPr/>
            </p:nvSpPr>
            <p:spPr>
              <a:xfrm>
                <a:off x="2093217" y="5186409"/>
                <a:ext cx="128240" cy="276999"/>
              </a:xfrm>
              <a:prstGeom prst="rect">
                <a:avLst/>
              </a:prstGeom>
              <a:blipFill>
                <a:blip r:embed="rId10"/>
                <a:stretch>
                  <a:fillRect l="-42857" r="-42857" b="-666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2FF3BC3C-95CE-47B3-8644-97887ACE747C}"/>
                  </a:ext>
                </a:extLst>
              </p:cNvPr>
              <p:cNvSpPr txBox="1"/>
              <p:nvPr/>
            </p:nvSpPr>
            <p:spPr>
              <a:xfrm>
                <a:off x="3268934" y="5179298"/>
                <a:ext cx="348878"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𝑚</m:t>
                          </m:r>
                        </m:e>
                        <m:sub>
                          <m:r>
                            <a:rPr lang="en-US" altLang="zh-CN" b="0" i="1" smtClean="0">
                              <a:latin typeface="Cambria Math" panose="02040503050406030204" pitchFamily="18" charset="0"/>
                            </a:rPr>
                            <m:t>1</m:t>
                          </m:r>
                        </m:sub>
                      </m:sSub>
                    </m:oMath>
                  </m:oMathPara>
                </a14:m>
                <a:endParaRPr lang="zh-CN" altLang="en-US" dirty="0"/>
              </a:p>
            </p:txBody>
          </p:sp>
        </mc:Choice>
        <mc:Fallback xmlns="">
          <p:sp>
            <p:nvSpPr>
              <p:cNvPr id="27" name="文本框 26">
                <a:extLst>
                  <a:ext uri="{FF2B5EF4-FFF2-40B4-BE49-F238E27FC236}">
                    <a16:creationId xmlns:a16="http://schemas.microsoft.com/office/drawing/2014/main" id="{2FF3BC3C-95CE-47B3-8644-97887ACE747C}"/>
                  </a:ext>
                </a:extLst>
              </p:cNvPr>
              <p:cNvSpPr txBox="1">
                <a:spLocks noRot="1" noChangeAspect="1" noMove="1" noResize="1" noEditPoints="1" noAdjustHandles="1" noChangeArrowheads="1" noChangeShapeType="1" noTextEdit="1"/>
              </p:cNvSpPr>
              <p:nvPr/>
            </p:nvSpPr>
            <p:spPr>
              <a:xfrm>
                <a:off x="3268934" y="5179298"/>
                <a:ext cx="348878" cy="276999"/>
              </a:xfrm>
              <a:prstGeom prst="rect">
                <a:avLst/>
              </a:prstGeom>
              <a:blipFill>
                <a:blip r:embed="rId11"/>
                <a:stretch>
                  <a:fillRect l="-10526" r="-7018" b="-1555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10351E21-844E-4DE9-A696-5B7D19521321}"/>
                  </a:ext>
                </a:extLst>
              </p:cNvPr>
              <p:cNvSpPr txBox="1"/>
              <p:nvPr/>
            </p:nvSpPr>
            <p:spPr>
              <a:xfrm>
                <a:off x="2081460" y="6105417"/>
                <a:ext cx="181396"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l-GR" i="1" smtClean="0">
                          <a:latin typeface="Cambria Math" panose="02040503050406030204" pitchFamily="18" charset="0"/>
                          <a:ea typeface="Cambria Math" panose="02040503050406030204" pitchFamily="18" charset="0"/>
                        </a:rPr>
                        <m:t>𝜊</m:t>
                      </m:r>
                    </m:oMath>
                  </m:oMathPara>
                </a14:m>
                <a:endParaRPr lang="zh-CN" altLang="en-US" dirty="0"/>
              </a:p>
            </p:txBody>
          </p:sp>
        </mc:Choice>
        <mc:Fallback xmlns="">
          <p:sp>
            <p:nvSpPr>
              <p:cNvPr id="28" name="文本框 27">
                <a:extLst>
                  <a:ext uri="{FF2B5EF4-FFF2-40B4-BE49-F238E27FC236}">
                    <a16:creationId xmlns:a16="http://schemas.microsoft.com/office/drawing/2014/main" id="{10351E21-844E-4DE9-A696-5B7D19521321}"/>
                  </a:ext>
                </a:extLst>
              </p:cNvPr>
              <p:cNvSpPr txBox="1">
                <a:spLocks noRot="1" noChangeAspect="1" noMove="1" noResize="1" noEditPoints="1" noAdjustHandles="1" noChangeArrowheads="1" noChangeShapeType="1" noTextEdit="1"/>
              </p:cNvSpPr>
              <p:nvPr/>
            </p:nvSpPr>
            <p:spPr>
              <a:xfrm>
                <a:off x="2081460" y="6105417"/>
                <a:ext cx="181396" cy="276999"/>
              </a:xfrm>
              <a:prstGeom prst="rect">
                <a:avLst/>
              </a:prstGeom>
              <a:blipFill>
                <a:blip r:embed="rId12"/>
                <a:stretch>
                  <a:fillRect l="-20000" r="-1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DCCB1891-D115-4C00-9D70-974FDA2AB91A}"/>
                  </a:ext>
                </a:extLst>
              </p:cNvPr>
              <p:cNvSpPr txBox="1"/>
              <p:nvPr/>
            </p:nvSpPr>
            <p:spPr>
              <a:xfrm>
                <a:off x="3339863" y="6066097"/>
                <a:ext cx="128240"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l-GR" altLang="zh-CN" i="1" smtClean="0">
                          <a:latin typeface="Cambria Math" panose="02040503050406030204" pitchFamily="18" charset="0"/>
                          <a:ea typeface="Cambria Math" panose="02040503050406030204" pitchFamily="18" charset="0"/>
                        </a:rPr>
                        <m:t>Ι</m:t>
                      </m:r>
                    </m:oMath>
                  </m:oMathPara>
                </a14:m>
                <a:endParaRPr lang="zh-CN" altLang="en-US" dirty="0"/>
              </a:p>
            </p:txBody>
          </p:sp>
        </mc:Choice>
        <mc:Fallback xmlns="">
          <p:sp>
            <p:nvSpPr>
              <p:cNvPr id="29" name="文本框 28">
                <a:extLst>
                  <a:ext uri="{FF2B5EF4-FFF2-40B4-BE49-F238E27FC236}">
                    <a16:creationId xmlns:a16="http://schemas.microsoft.com/office/drawing/2014/main" id="{DCCB1891-D115-4C00-9D70-974FDA2AB91A}"/>
                  </a:ext>
                </a:extLst>
              </p:cNvPr>
              <p:cNvSpPr txBox="1">
                <a:spLocks noRot="1" noChangeAspect="1" noMove="1" noResize="1" noEditPoints="1" noAdjustHandles="1" noChangeArrowheads="1" noChangeShapeType="1" noTextEdit="1"/>
              </p:cNvSpPr>
              <p:nvPr/>
            </p:nvSpPr>
            <p:spPr>
              <a:xfrm>
                <a:off x="3339863" y="6066097"/>
                <a:ext cx="128240" cy="276999"/>
              </a:xfrm>
              <a:prstGeom prst="rect">
                <a:avLst/>
              </a:prstGeom>
              <a:blipFill>
                <a:blip r:embed="rId13"/>
                <a:stretch>
                  <a:fillRect l="-47619" r="-38095" b="-6522"/>
                </a:stretch>
              </a:blipFill>
            </p:spPr>
            <p:txBody>
              <a:bodyPr/>
              <a:lstStyle/>
              <a:p>
                <a:r>
                  <a:rPr lang="zh-CN" altLang="en-US">
                    <a:noFill/>
                  </a:rPr>
                  <a:t> </a:t>
                </a:r>
              </a:p>
            </p:txBody>
          </p:sp>
        </mc:Fallback>
      </mc:AlternateContent>
      <p:sp>
        <p:nvSpPr>
          <p:cNvPr id="30" name="文本框 29">
            <a:extLst>
              <a:ext uri="{FF2B5EF4-FFF2-40B4-BE49-F238E27FC236}">
                <a16:creationId xmlns:a16="http://schemas.microsoft.com/office/drawing/2014/main" id="{FC3CA9BF-18B7-4E55-95EE-35EE90E4BFB8}"/>
              </a:ext>
            </a:extLst>
          </p:cNvPr>
          <p:cNvSpPr txBox="1"/>
          <p:nvPr/>
        </p:nvSpPr>
        <p:spPr>
          <a:xfrm>
            <a:off x="4250108" y="4320126"/>
            <a:ext cx="7471285" cy="2537874"/>
          </a:xfrm>
          <a:prstGeom prst="rect">
            <a:avLst/>
          </a:prstGeom>
          <a:noFill/>
        </p:spPr>
        <p:txBody>
          <a:bodyPr wrap="square" rtlCol="0">
            <a:spAutoFit/>
          </a:bodyPr>
          <a:lstStyle/>
          <a:p>
            <a:pPr>
              <a:lnSpc>
                <a:spcPct val="150000"/>
              </a:lnSpc>
            </a:pPr>
            <a:r>
              <a:rPr lang="zh-CN" altLang="en-US" dirty="0"/>
              <a:t>行列式为</a:t>
            </a:r>
            <a:r>
              <a:rPr lang="en-US" altLang="zh-CN" dirty="0"/>
              <a:t>1</a:t>
            </a:r>
            <a:r>
              <a:rPr lang="zh-CN" altLang="en-US" dirty="0"/>
              <a:t>，并且</a:t>
            </a:r>
            <a:r>
              <a:rPr lang="en-US" altLang="zh-CN" dirty="0"/>
              <a:t>m</a:t>
            </a:r>
            <a:r>
              <a:rPr lang="zh-CN" altLang="en-US" dirty="0"/>
              <a:t>与行列式计算无关，所以实际上</a:t>
            </a:r>
            <a:r>
              <a:rPr lang="en-US" altLang="zh-CN" dirty="0"/>
              <a:t>m</a:t>
            </a:r>
            <a:r>
              <a:rPr lang="zh-CN" altLang="en-US" dirty="0"/>
              <a:t>这个操作可以是任意操作（卷积，全连接</a:t>
            </a:r>
            <a:r>
              <a:rPr lang="en-US" altLang="zh-CN" dirty="0"/>
              <a:t>….</a:t>
            </a:r>
            <a:r>
              <a:rPr lang="zh-CN" altLang="en-US" dirty="0"/>
              <a:t>）</a:t>
            </a:r>
            <a:endParaRPr lang="en-US" altLang="zh-CN" dirty="0"/>
          </a:p>
          <a:p>
            <a:pPr>
              <a:lnSpc>
                <a:spcPct val="150000"/>
              </a:lnSpc>
            </a:pPr>
            <a:endParaRPr lang="en-US" altLang="zh-CN" dirty="0"/>
          </a:p>
          <a:p>
            <a:pPr>
              <a:lnSpc>
                <a:spcPct val="150000"/>
              </a:lnSpc>
            </a:pPr>
            <a:r>
              <a:rPr lang="zh-CN" altLang="en-US" dirty="0"/>
              <a:t>另外关于矩阵可逆这部分，其实没怎么看到有人针对这个问题做研究，有一个解释是说，矩阵可逆的要求很低，行列式只要不为</a:t>
            </a:r>
            <a:r>
              <a:rPr lang="en-US" altLang="zh-CN" dirty="0"/>
              <a:t>0</a:t>
            </a:r>
            <a:r>
              <a:rPr lang="zh-CN" altLang="en-US" dirty="0"/>
              <a:t>就代表矩阵可逆，所以随机</a:t>
            </a:r>
            <a:r>
              <a:rPr lang="en-US" altLang="zh-CN" dirty="0"/>
              <a:t>sample</a:t>
            </a:r>
            <a:r>
              <a:rPr lang="zh-CN" altLang="en-US" dirty="0"/>
              <a:t>一个矩阵大概率都是可逆的。</a:t>
            </a:r>
            <a:endParaRPr lang="en-US" altLang="zh-CN" dirty="0"/>
          </a:p>
        </p:txBody>
      </p:sp>
    </p:spTree>
    <p:extLst>
      <p:ext uri="{BB962C8B-B14F-4D97-AF65-F5344CB8AC3E}">
        <p14:creationId xmlns:p14="http://schemas.microsoft.com/office/powerpoint/2010/main" val="1703732922"/>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12</a:t>
            </a:fld>
            <a:endParaRPr lang="zh-CN" altLang="en-US"/>
          </a:p>
        </p:txBody>
      </p:sp>
      <p:sp>
        <p:nvSpPr>
          <p:cNvPr id="12" name="文本框 11">
            <a:extLst>
              <a:ext uri="{FF2B5EF4-FFF2-40B4-BE49-F238E27FC236}">
                <a16:creationId xmlns:a16="http://schemas.microsoft.com/office/drawing/2014/main" id="{C7FE57B1-2AE2-447E-A894-94A00D766B5E}"/>
              </a:ext>
            </a:extLst>
          </p:cNvPr>
          <p:cNvSpPr txBox="1"/>
          <p:nvPr/>
        </p:nvSpPr>
        <p:spPr>
          <a:xfrm>
            <a:off x="874799" y="3103364"/>
            <a:ext cx="11464895" cy="464871"/>
          </a:xfrm>
          <a:prstGeom prst="rect">
            <a:avLst/>
          </a:prstGeom>
          <a:noFill/>
        </p:spPr>
        <p:txBody>
          <a:bodyPr wrap="square" rtlCol="0">
            <a:spAutoFit/>
          </a:bodyPr>
          <a:lstStyle/>
          <a:p>
            <a:pPr>
              <a:lnSpc>
                <a:spcPct val="150000"/>
              </a:lnSpc>
            </a:pPr>
            <a:r>
              <a:rPr lang="zh-CN" altLang="en-US" dirty="0"/>
              <a:t>对于第一层的设计仍会有部分缺陷，一直复制会导致有一部分的信息始终是输入的分布。</a:t>
            </a:r>
            <a:endParaRPr lang="en-US" altLang="zh-CN" dirty="0"/>
          </a:p>
        </p:txBody>
      </p:sp>
      <p:pic>
        <p:nvPicPr>
          <p:cNvPr id="1026" name="Picture 2" descr="https://spaces.ac.cn/usr/uploads/2018/08/996304282.png">
            <a:extLst>
              <a:ext uri="{FF2B5EF4-FFF2-40B4-BE49-F238E27FC236}">
                <a16:creationId xmlns:a16="http://schemas.microsoft.com/office/drawing/2014/main" id="{541EC4A4-5F1D-4111-96AB-D9E818B27A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372" y="1179030"/>
            <a:ext cx="8648700" cy="176212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spaces.ac.cn/usr/uploads/2018/08/3977150209.png">
            <a:extLst>
              <a:ext uri="{FF2B5EF4-FFF2-40B4-BE49-F238E27FC236}">
                <a16:creationId xmlns:a16="http://schemas.microsoft.com/office/drawing/2014/main" id="{8BD7261B-2BDD-4D82-BD1C-3D4AEFDE879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11107" y="3926370"/>
            <a:ext cx="8658225" cy="1752600"/>
          </a:xfrm>
          <a:prstGeom prst="rect">
            <a:avLst/>
          </a:prstGeom>
          <a:noFill/>
          <a:extLst>
            <a:ext uri="{909E8E84-426E-40DD-AFC4-6F175D3DCCD1}">
              <a14:hiddenFill xmlns:a14="http://schemas.microsoft.com/office/drawing/2010/main">
                <a:solidFill>
                  <a:srgbClr val="FFFFFF"/>
                </a:solidFill>
              </a14:hiddenFill>
            </a:ext>
          </a:extLst>
        </p:spPr>
      </p:pic>
      <p:sp>
        <p:nvSpPr>
          <p:cNvPr id="8" name="矩形 7">
            <a:extLst>
              <a:ext uri="{FF2B5EF4-FFF2-40B4-BE49-F238E27FC236}">
                <a16:creationId xmlns:a16="http://schemas.microsoft.com/office/drawing/2014/main" id="{8A4614A0-9328-4BC9-B643-EBFEB8075A38}"/>
              </a:ext>
            </a:extLst>
          </p:cNvPr>
          <p:cNvSpPr/>
          <p:nvPr/>
        </p:nvSpPr>
        <p:spPr>
          <a:xfrm>
            <a:off x="944371" y="5678970"/>
            <a:ext cx="9178683" cy="460382"/>
          </a:xfrm>
          <a:prstGeom prst="rect">
            <a:avLst/>
          </a:prstGeom>
        </p:spPr>
        <p:txBody>
          <a:bodyPr wrap="square">
            <a:spAutoFit/>
          </a:bodyPr>
          <a:lstStyle/>
          <a:p>
            <a:pPr>
              <a:lnSpc>
                <a:spcPct val="150000"/>
              </a:lnSpc>
            </a:pPr>
            <a:r>
              <a:rPr lang="zh-CN" altLang="en-US" dirty="0"/>
              <a:t>可以通过交替或者随机打乱的方式。</a:t>
            </a:r>
            <a:endParaRPr lang="en-US" altLang="zh-CN" dirty="0"/>
          </a:p>
        </p:txBody>
      </p:sp>
    </p:spTree>
    <p:extLst>
      <p:ext uri="{BB962C8B-B14F-4D97-AF65-F5344CB8AC3E}">
        <p14:creationId xmlns:p14="http://schemas.microsoft.com/office/powerpoint/2010/main" val="1179633274"/>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13</a:t>
            </a:fld>
            <a:endParaRPr lang="zh-CN" altLang="en-US"/>
          </a:p>
        </p:txBody>
      </p:sp>
      <p:sp>
        <p:nvSpPr>
          <p:cNvPr id="12" name="文本框 11">
            <a:extLst>
              <a:ext uri="{FF2B5EF4-FFF2-40B4-BE49-F238E27FC236}">
                <a16:creationId xmlns:a16="http://schemas.microsoft.com/office/drawing/2014/main" id="{C7FE57B1-2AE2-447E-A894-94A00D766B5E}"/>
              </a:ext>
            </a:extLst>
          </p:cNvPr>
          <p:cNvSpPr txBox="1"/>
          <p:nvPr/>
        </p:nvSpPr>
        <p:spPr>
          <a:xfrm>
            <a:off x="363552" y="978535"/>
            <a:ext cx="11464895" cy="2957861"/>
          </a:xfrm>
          <a:prstGeom prst="rect">
            <a:avLst/>
          </a:prstGeom>
          <a:noFill/>
        </p:spPr>
        <p:txBody>
          <a:bodyPr wrap="square" rtlCol="0">
            <a:spAutoFit/>
          </a:bodyPr>
          <a:lstStyle/>
          <a:p>
            <a:pPr>
              <a:lnSpc>
                <a:spcPct val="150000"/>
              </a:lnSpc>
            </a:pPr>
            <a:r>
              <a:rPr lang="zh-CN" altLang="en-US" dirty="0"/>
              <a:t>刚刚提到</a:t>
            </a:r>
            <a:r>
              <a:rPr lang="en-US" altLang="zh-CN" dirty="0"/>
              <a:t>m</a:t>
            </a:r>
            <a:r>
              <a:rPr lang="zh-CN" altLang="en-US" dirty="0"/>
              <a:t>可以为任意的操作，可以是卷积。然而不是任意情况下套用卷积都是合理的，用卷积的前提是输入（在空间维度）具有局部相关性。图像本身是具有局部相关性的，因为相邻之间的像素是有一定关联的，因此一般的图像模型都可以使用卷积。</a:t>
            </a:r>
            <a:r>
              <a:rPr lang="en-US" altLang="zh-CN" dirty="0"/>
              <a:t>flow</a:t>
            </a:r>
            <a:r>
              <a:rPr lang="zh-CN" altLang="en-US" dirty="0"/>
              <a:t>中的有两个操作：</a:t>
            </a:r>
            <a:r>
              <a:rPr lang="en-US" altLang="zh-CN" dirty="0"/>
              <a:t>1</a:t>
            </a:r>
            <a:r>
              <a:rPr lang="zh-CN" altLang="en-US" dirty="0"/>
              <a:t>、将输入分割为两部分</a:t>
            </a:r>
            <a:r>
              <a:rPr lang="en-US" altLang="zh-CN" dirty="0"/>
              <a:t>x1,x2</a:t>
            </a:r>
            <a:r>
              <a:rPr lang="zh-CN" altLang="en-US" dirty="0"/>
              <a:t>，然后输入到耦合层中，而事实上只对</a:t>
            </a:r>
            <a:r>
              <a:rPr lang="en-US" altLang="zh-CN" dirty="0"/>
              <a:t>x1</a:t>
            </a:r>
            <a:r>
              <a:rPr lang="zh-CN" altLang="en-US" dirty="0"/>
              <a:t>进行处理；</a:t>
            </a:r>
            <a:r>
              <a:rPr lang="en-US" altLang="zh-CN" dirty="0"/>
              <a:t>2</a:t>
            </a:r>
            <a:r>
              <a:rPr lang="zh-CN" altLang="en-US" dirty="0"/>
              <a:t>、特征输入耦合层之前，要随机打乱原来特征的各个维度（相当于乱序的特征）。这两个操作都会破坏局部相关性，比如分割操作有可能割裂原来相邻的像素，随机打乱也可能将原来相邻的两个像素分割得很远。</a:t>
            </a:r>
            <a:endParaRPr lang="en-US" altLang="zh-CN" dirty="0"/>
          </a:p>
          <a:p>
            <a:pPr>
              <a:lnSpc>
                <a:spcPct val="150000"/>
              </a:lnSpc>
            </a:pPr>
            <a:r>
              <a:rPr lang="zh-CN" altLang="en-US" dirty="0"/>
              <a:t>（</a:t>
            </a:r>
            <a:r>
              <a:rPr lang="en-US" altLang="zh-CN" dirty="0"/>
              <a:t>squeeze</a:t>
            </a:r>
            <a:r>
              <a:rPr lang="zh-CN" altLang="en-US" dirty="0"/>
              <a:t>操作）</a:t>
            </a:r>
            <a:endParaRPr lang="en-US" altLang="zh-CN" dirty="0"/>
          </a:p>
        </p:txBody>
      </p:sp>
      <p:pic>
        <p:nvPicPr>
          <p:cNvPr id="4098" name="Picture 2" descr="https://spaces.ac.cn/usr/uploads/2018/08/1423962536.png">
            <a:extLst>
              <a:ext uri="{FF2B5EF4-FFF2-40B4-BE49-F238E27FC236}">
                <a16:creationId xmlns:a16="http://schemas.microsoft.com/office/drawing/2014/main" id="{8A7CF11D-1C5E-47E8-A23A-B23937D381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3345" y="3936396"/>
            <a:ext cx="6823364" cy="25315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5144729"/>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14</a:t>
            </a:fld>
            <a:endParaRPr lang="zh-CN" altLang="en-US"/>
          </a:p>
        </p:txBody>
      </p:sp>
      <p:sp>
        <p:nvSpPr>
          <p:cNvPr id="12" name="文本框 11">
            <a:extLst>
              <a:ext uri="{FF2B5EF4-FFF2-40B4-BE49-F238E27FC236}">
                <a16:creationId xmlns:a16="http://schemas.microsoft.com/office/drawing/2014/main" id="{C7FE57B1-2AE2-447E-A894-94A00D766B5E}"/>
              </a:ext>
            </a:extLst>
          </p:cNvPr>
          <p:cNvSpPr txBox="1"/>
          <p:nvPr/>
        </p:nvSpPr>
        <p:spPr>
          <a:xfrm>
            <a:off x="468400" y="1209909"/>
            <a:ext cx="5562946" cy="3368871"/>
          </a:xfrm>
          <a:prstGeom prst="rect">
            <a:avLst/>
          </a:prstGeom>
          <a:noFill/>
        </p:spPr>
        <p:txBody>
          <a:bodyPr wrap="square" rtlCol="0">
            <a:spAutoFit/>
          </a:bodyPr>
          <a:lstStyle/>
          <a:p>
            <a:pPr>
              <a:lnSpc>
                <a:spcPct val="150000"/>
              </a:lnSpc>
            </a:pPr>
            <a:r>
              <a:rPr lang="zh-CN" altLang="en-US" dirty="0"/>
              <a:t>为了进一步降低计算量，引入多尺度的结构。（</a:t>
            </a:r>
            <a:r>
              <a:rPr lang="en-US" altLang="zh-CN" dirty="0"/>
              <a:t>SPLIT</a:t>
            </a:r>
            <a:r>
              <a:rPr lang="zh-CN" altLang="en-US" dirty="0"/>
              <a:t>）</a:t>
            </a:r>
            <a:endParaRPr lang="en-US" altLang="zh-CN" dirty="0"/>
          </a:p>
          <a:p>
            <a:pPr>
              <a:lnSpc>
                <a:spcPct val="150000"/>
              </a:lnSpc>
            </a:pPr>
            <a:endParaRPr lang="en-US" altLang="zh-CN" dirty="0"/>
          </a:p>
          <a:p>
            <a:pPr>
              <a:lnSpc>
                <a:spcPct val="150000"/>
              </a:lnSpc>
            </a:pPr>
            <a:r>
              <a:rPr lang="zh-CN" altLang="en-US" dirty="0"/>
              <a:t>如图所示。原始输入经过第一步</a:t>
            </a:r>
            <a:r>
              <a:rPr lang="en-US" altLang="zh-CN" dirty="0"/>
              <a:t>flow</a:t>
            </a:r>
            <a:r>
              <a:rPr lang="zh-CN" altLang="en-US" dirty="0"/>
              <a:t>运算（“</a:t>
            </a:r>
            <a:r>
              <a:rPr lang="en-US" altLang="zh-CN" dirty="0"/>
              <a:t>flow</a:t>
            </a:r>
            <a:r>
              <a:rPr lang="zh-CN" altLang="en-US" dirty="0"/>
              <a:t>运算”指的是多个耦合层的复合）后，输出跟输入的大小一样，这时候将输入对半分开两半</a:t>
            </a:r>
            <a:r>
              <a:rPr lang="en-US" altLang="zh-CN" dirty="0"/>
              <a:t>z1,z2</a:t>
            </a:r>
            <a:r>
              <a:rPr lang="zh-CN" altLang="en-US" dirty="0"/>
              <a:t>（自然也是沿着通道轴），其中</a:t>
            </a:r>
            <a:r>
              <a:rPr lang="en-US" altLang="zh-CN" dirty="0"/>
              <a:t>z1</a:t>
            </a:r>
            <a:r>
              <a:rPr lang="zh-CN" altLang="en-US" dirty="0"/>
              <a:t>直接输出，而只将</a:t>
            </a:r>
            <a:r>
              <a:rPr lang="en-US" altLang="zh-CN" dirty="0"/>
              <a:t>z2</a:t>
            </a:r>
            <a:r>
              <a:rPr lang="zh-CN" altLang="en-US" dirty="0"/>
              <a:t>送入到下一步</a:t>
            </a:r>
            <a:r>
              <a:rPr lang="en-US" altLang="zh-CN" dirty="0"/>
              <a:t>flow</a:t>
            </a:r>
            <a:r>
              <a:rPr lang="zh-CN" altLang="en-US" dirty="0"/>
              <a:t>运算，后面的依此类推。比如图中的特例，最终的输出由</a:t>
            </a:r>
            <a:r>
              <a:rPr lang="en-US" altLang="zh-CN" dirty="0"/>
              <a:t>z1,z3,z5</a:t>
            </a:r>
            <a:r>
              <a:rPr lang="zh-CN" altLang="en-US" dirty="0"/>
              <a:t>组成，总大小跟输入一样。</a:t>
            </a:r>
            <a:endParaRPr lang="en-US" altLang="zh-CN" dirty="0"/>
          </a:p>
        </p:txBody>
      </p:sp>
      <p:pic>
        <p:nvPicPr>
          <p:cNvPr id="3074" name="Picture 2" descr="https://spaces.ac.cn/usr/uploads/2018/08/2411003068.png">
            <a:extLst>
              <a:ext uri="{FF2B5EF4-FFF2-40B4-BE49-F238E27FC236}">
                <a16:creationId xmlns:a16="http://schemas.microsoft.com/office/drawing/2014/main" id="{891657F1-D7C8-4414-B0BB-8E70C1C2A37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22124" y="1209909"/>
            <a:ext cx="3124200" cy="5191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914239"/>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15</a:t>
            </a:fld>
            <a:endParaRPr lang="zh-CN" altLang="en-US"/>
          </a:p>
        </p:txBody>
      </p:sp>
      <p:sp>
        <p:nvSpPr>
          <p:cNvPr id="12" name="文本框 11">
            <a:extLst>
              <a:ext uri="{FF2B5EF4-FFF2-40B4-BE49-F238E27FC236}">
                <a16:creationId xmlns:a16="http://schemas.microsoft.com/office/drawing/2014/main" id="{C7FE57B1-2AE2-447E-A894-94A00D766B5E}"/>
              </a:ext>
            </a:extLst>
          </p:cNvPr>
          <p:cNvSpPr txBox="1"/>
          <p:nvPr/>
        </p:nvSpPr>
        <p:spPr>
          <a:xfrm>
            <a:off x="468399" y="1209909"/>
            <a:ext cx="11464895" cy="5030864"/>
          </a:xfrm>
          <a:prstGeom prst="rect">
            <a:avLst/>
          </a:prstGeom>
          <a:noFill/>
        </p:spPr>
        <p:txBody>
          <a:bodyPr wrap="square" rtlCol="0">
            <a:spAutoFit/>
          </a:bodyPr>
          <a:lstStyle/>
          <a:p>
            <a:pPr>
              <a:lnSpc>
                <a:spcPct val="150000"/>
              </a:lnSpc>
            </a:pPr>
            <a:r>
              <a:rPr lang="zh-CN" altLang="en-US" dirty="0"/>
              <a:t>在分块耦合层的部分，一个很重要的操作就是将维度打乱，防止输入的一部分一直复制到输出。</a:t>
            </a:r>
            <a:endParaRPr lang="en-US" altLang="zh-CN" dirty="0"/>
          </a:p>
          <a:p>
            <a:pPr>
              <a:lnSpc>
                <a:spcPct val="150000"/>
              </a:lnSpc>
            </a:pPr>
            <a:r>
              <a:rPr lang="zh-CN" altLang="en-US" dirty="0"/>
              <a:t>前面提到两种方法，一个是交错开，一个的随机打乱，但是交错开跟随机打乱其实本质上都是实现了一个置换操作。</a:t>
            </a: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dirty="0"/>
              <a:t>可以把这个置换的矩阵换成一个可学习的参数，本质上就是一个</a:t>
            </a:r>
            <a:r>
              <a:rPr lang="en-US" altLang="zh-CN" dirty="0"/>
              <a:t>1*1</a:t>
            </a:r>
            <a:r>
              <a:rPr lang="zh-CN" altLang="en-US" dirty="0"/>
              <a:t>的卷积。</a:t>
            </a:r>
            <a:endParaRPr lang="en-US" altLang="zh-CN" dirty="0"/>
          </a:p>
        </p:txBody>
      </p:sp>
      <p:pic>
        <p:nvPicPr>
          <p:cNvPr id="4" name="图片 3">
            <a:extLst>
              <a:ext uri="{FF2B5EF4-FFF2-40B4-BE49-F238E27FC236}">
                <a16:creationId xmlns:a16="http://schemas.microsoft.com/office/drawing/2014/main" id="{C8F89F5C-850F-48AE-B798-640B4DD456BB}"/>
              </a:ext>
            </a:extLst>
          </p:cNvPr>
          <p:cNvPicPr>
            <a:picLocks noChangeAspect="1"/>
          </p:cNvPicPr>
          <p:nvPr/>
        </p:nvPicPr>
        <p:blipFill>
          <a:blip r:embed="rId4"/>
          <a:stretch>
            <a:fillRect/>
          </a:stretch>
        </p:blipFill>
        <p:spPr>
          <a:xfrm>
            <a:off x="3472728" y="4251719"/>
            <a:ext cx="3945915" cy="1515559"/>
          </a:xfrm>
          <a:prstGeom prst="rect">
            <a:avLst/>
          </a:prstGeom>
        </p:spPr>
      </p:pic>
      <p:pic>
        <p:nvPicPr>
          <p:cNvPr id="13" name="Picture 6" descr="https://spaces.ac.cn/usr/uploads/2018/08/3977150209.png">
            <a:extLst>
              <a:ext uri="{FF2B5EF4-FFF2-40B4-BE49-F238E27FC236}">
                <a16:creationId xmlns:a16="http://schemas.microsoft.com/office/drawing/2014/main" id="{BA3BF779-7F13-4F7D-AFD2-352DF150416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50813" y="2293286"/>
            <a:ext cx="8658225" cy="1752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4014577"/>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16</a:t>
            </a:fld>
            <a:endParaRPr lang="zh-CN" altLang="en-US"/>
          </a:p>
        </p:txBody>
      </p:sp>
      <p:sp>
        <p:nvSpPr>
          <p:cNvPr id="12" name="文本框 11">
            <a:extLst>
              <a:ext uri="{FF2B5EF4-FFF2-40B4-BE49-F238E27FC236}">
                <a16:creationId xmlns:a16="http://schemas.microsoft.com/office/drawing/2014/main" id="{C7FE57B1-2AE2-447E-A894-94A00D766B5E}"/>
              </a:ext>
            </a:extLst>
          </p:cNvPr>
          <p:cNvSpPr txBox="1"/>
          <p:nvPr/>
        </p:nvSpPr>
        <p:spPr>
          <a:xfrm>
            <a:off x="7467252" y="1949607"/>
            <a:ext cx="3078365" cy="3368871"/>
          </a:xfrm>
          <a:prstGeom prst="rect">
            <a:avLst/>
          </a:prstGeom>
          <a:noFill/>
        </p:spPr>
        <p:txBody>
          <a:bodyPr wrap="square" rtlCol="0">
            <a:spAutoFit/>
          </a:bodyPr>
          <a:lstStyle/>
          <a:p>
            <a:pPr>
              <a:lnSpc>
                <a:spcPct val="150000"/>
              </a:lnSpc>
            </a:pPr>
            <a:r>
              <a:rPr lang="zh-CN" altLang="en-US" dirty="0"/>
              <a:t>对生成器的高要求限制了一个生成器的表达能力</a:t>
            </a:r>
            <a:endParaRPr lang="en-US" altLang="zh-CN" dirty="0"/>
          </a:p>
          <a:p>
            <a:pPr>
              <a:lnSpc>
                <a:spcPct val="150000"/>
              </a:lnSpc>
            </a:pPr>
            <a:endParaRPr lang="en-US" altLang="zh-CN" dirty="0"/>
          </a:p>
          <a:p>
            <a:pPr>
              <a:lnSpc>
                <a:spcPct val="150000"/>
              </a:lnSpc>
            </a:pPr>
            <a:endParaRPr lang="en-US" altLang="zh-CN" dirty="0"/>
          </a:p>
          <a:p>
            <a:pPr>
              <a:lnSpc>
                <a:spcPct val="150000"/>
              </a:lnSpc>
            </a:pPr>
            <a:r>
              <a:rPr lang="zh-CN" altLang="en-US" dirty="0"/>
              <a:t>所以可以用多个满足这个条件的生成器组成一个大的生成器，</a:t>
            </a:r>
            <a:r>
              <a:rPr lang="en-US" altLang="zh-CN" dirty="0"/>
              <a:t>Flow</a:t>
            </a:r>
            <a:r>
              <a:rPr lang="zh-CN" altLang="en-US" dirty="0"/>
              <a:t>的名字就由此而来。</a:t>
            </a:r>
            <a:endParaRPr lang="en-US" altLang="zh-CN" dirty="0"/>
          </a:p>
        </p:txBody>
      </p:sp>
      <p:pic>
        <p:nvPicPr>
          <p:cNvPr id="5" name="图片 4">
            <a:extLst>
              <a:ext uri="{FF2B5EF4-FFF2-40B4-BE49-F238E27FC236}">
                <a16:creationId xmlns:a16="http://schemas.microsoft.com/office/drawing/2014/main" id="{EF8653BB-D7BF-4691-818E-03F8A8DB8788}"/>
              </a:ext>
            </a:extLst>
          </p:cNvPr>
          <p:cNvPicPr>
            <a:picLocks noChangeAspect="1"/>
          </p:cNvPicPr>
          <p:nvPr/>
        </p:nvPicPr>
        <p:blipFill>
          <a:blip r:embed="rId4"/>
          <a:stretch>
            <a:fillRect/>
          </a:stretch>
        </p:blipFill>
        <p:spPr>
          <a:xfrm>
            <a:off x="774540" y="1677498"/>
            <a:ext cx="6487493" cy="3913091"/>
          </a:xfrm>
          <a:prstGeom prst="rect">
            <a:avLst/>
          </a:prstGeom>
        </p:spPr>
      </p:pic>
    </p:spTree>
    <p:extLst>
      <p:ext uri="{BB962C8B-B14F-4D97-AF65-F5344CB8AC3E}">
        <p14:creationId xmlns:p14="http://schemas.microsoft.com/office/powerpoint/2010/main" val="1058819889"/>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17</a:t>
            </a:fld>
            <a:endParaRPr lang="zh-CN" altLang="en-US"/>
          </a:p>
        </p:txBody>
      </p:sp>
      <p:sp>
        <p:nvSpPr>
          <p:cNvPr id="12" name="文本框 11">
            <a:extLst>
              <a:ext uri="{FF2B5EF4-FFF2-40B4-BE49-F238E27FC236}">
                <a16:creationId xmlns:a16="http://schemas.microsoft.com/office/drawing/2014/main" id="{C7FE57B1-2AE2-447E-A894-94A00D766B5E}"/>
              </a:ext>
            </a:extLst>
          </p:cNvPr>
          <p:cNvSpPr txBox="1"/>
          <p:nvPr/>
        </p:nvSpPr>
        <p:spPr>
          <a:xfrm>
            <a:off x="468399" y="1209909"/>
            <a:ext cx="11464895" cy="464871"/>
          </a:xfrm>
          <a:prstGeom prst="rect">
            <a:avLst/>
          </a:prstGeom>
          <a:noFill/>
        </p:spPr>
        <p:txBody>
          <a:bodyPr wrap="square" rtlCol="0">
            <a:spAutoFit/>
          </a:bodyPr>
          <a:lstStyle/>
          <a:p>
            <a:pPr>
              <a:lnSpc>
                <a:spcPct val="150000"/>
              </a:lnSpc>
            </a:pPr>
            <a:r>
              <a:rPr lang="zh-CN" altLang="en-US" dirty="0"/>
              <a:t>最终流模型模块的结构图：</a:t>
            </a:r>
            <a:endParaRPr lang="en-US" altLang="zh-CN" dirty="0"/>
          </a:p>
        </p:txBody>
      </p:sp>
      <p:pic>
        <p:nvPicPr>
          <p:cNvPr id="8" name="图片 7">
            <a:extLst>
              <a:ext uri="{FF2B5EF4-FFF2-40B4-BE49-F238E27FC236}">
                <a16:creationId xmlns:a16="http://schemas.microsoft.com/office/drawing/2014/main" id="{C6BC6F67-2E90-43C5-9584-020020698FCF}"/>
              </a:ext>
            </a:extLst>
          </p:cNvPr>
          <p:cNvPicPr>
            <a:picLocks noChangeAspect="1"/>
          </p:cNvPicPr>
          <p:nvPr/>
        </p:nvPicPr>
        <p:blipFill>
          <a:blip r:embed="rId4"/>
          <a:stretch>
            <a:fillRect/>
          </a:stretch>
        </p:blipFill>
        <p:spPr>
          <a:xfrm>
            <a:off x="1929546" y="1674780"/>
            <a:ext cx="7250545" cy="4171353"/>
          </a:xfrm>
          <a:prstGeom prst="rect">
            <a:avLst/>
          </a:prstGeom>
        </p:spPr>
      </p:pic>
    </p:spTree>
    <p:extLst>
      <p:ext uri="{BB962C8B-B14F-4D97-AF65-F5344CB8AC3E}">
        <p14:creationId xmlns:p14="http://schemas.microsoft.com/office/powerpoint/2010/main" val="1992303071"/>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18</a:t>
            </a:fld>
            <a:endParaRPr lang="zh-CN" altLang="en-US"/>
          </a:p>
        </p:txBody>
      </p:sp>
      <p:sp>
        <p:nvSpPr>
          <p:cNvPr id="12" name="文本框 11">
            <a:extLst>
              <a:ext uri="{FF2B5EF4-FFF2-40B4-BE49-F238E27FC236}">
                <a16:creationId xmlns:a16="http://schemas.microsoft.com/office/drawing/2014/main" id="{C7FE57B1-2AE2-447E-A894-94A00D766B5E}"/>
              </a:ext>
            </a:extLst>
          </p:cNvPr>
          <p:cNvSpPr txBox="1"/>
          <p:nvPr/>
        </p:nvSpPr>
        <p:spPr>
          <a:xfrm>
            <a:off x="468399" y="1209909"/>
            <a:ext cx="11464895" cy="464871"/>
          </a:xfrm>
          <a:prstGeom prst="rect">
            <a:avLst/>
          </a:prstGeom>
          <a:noFill/>
        </p:spPr>
        <p:txBody>
          <a:bodyPr wrap="square" rtlCol="0">
            <a:spAutoFit/>
          </a:bodyPr>
          <a:lstStyle/>
          <a:p>
            <a:pPr>
              <a:lnSpc>
                <a:spcPct val="150000"/>
              </a:lnSpc>
            </a:pPr>
            <a:r>
              <a:rPr lang="zh-CN" altLang="en-US" dirty="0"/>
              <a:t>结果展示：</a:t>
            </a:r>
            <a:endParaRPr lang="en-US" altLang="zh-CN" dirty="0"/>
          </a:p>
        </p:txBody>
      </p:sp>
      <p:pic>
        <p:nvPicPr>
          <p:cNvPr id="11" name="图片 10">
            <a:extLst>
              <a:ext uri="{FF2B5EF4-FFF2-40B4-BE49-F238E27FC236}">
                <a16:creationId xmlns:a16="http://schemas.microsoft.com/office/drawing/2014/main" id="{8E9BBDAF-A877-441B-B583-88BF141EC7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2950" y="2742829"/>
            <a:ext cx="10215273" cy="2060080"/>
          </a:xfrm>
          <a:prstGeom prst="rect">
            <a:avLst/>
          </a:prstGeom>
        </p:spPr>
      </p:pic>
    </p:spTree>
    <p:extLst>
      <p:ext uri="{BB962C8B-B14F-4D97-AF65-F5344CB8AC3E}">
        <p14:creationId xmlns:p14="http://schemas.microsoft.com/office/powerpoint/2010/main" val="897233699"/>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圆角矩形 73"/>
          <p:cNvSpPr/>
          <p:nvPr/>
        </p:nvSpPr>
        <p:spPr>
          <a:xfrm>
            <a:off x="-254000" y="227330"/>
            <a:ext cx="897890" cy="43942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405" y="201930"/>
            <a:ext cx="467995" cy="52197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1</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文本框 2"/>
          <p:cNvSpPr txBox="1"/>
          <p:nvPr/>
        </p:nvSpPr>
        <p:spPr>
          <a:xfrm>
            <a:off x="944372" y="202090"/>
            <a:ext cx="994410" cy="582295"/>
          </a:xfrm>
          <a:prstGeom prst="rect">
            <a:avLst/>
          </a:prstGeom>
          <a:noFill/>
        </p:spPr>
        <p:txBody>
          <a:bodyPr wrap="none" lIns="91436" tIns="45718" rIns="91436" bIns="45718" rtlCol="0">
            <a:spAutoFit/>
          </a:bodyPr>
          <a:lstStyle/>
          <a:p>
            <a:r>
              <a:rPr lang="zh-CN" altLang="en-US" sz="3200" dirty="0">
                <a:solidFill>
                  <a:schemeClr val="tx1">
                    <a:lumMod val="65000"/>
                    <a:lumOff val="35000"/>
                  </a:schemeClr>
                </a:solidFill>
                <a:latin typeface="微软雅黑" panose="020B0503020204020204" pitchFamily="34" charset="-122"/>
                <a:ea typeface="微软雅黑" panose="020B0503020204020204" pitchFamily="34" charset="-122"/>
              </a:rPr>
              <a:t>细节</a:t>
            </a:r>
          </a:p>
        </p:txBody>
      </p:sp>
      <p:sp>
        <p:nvSpPr>
          <p:cNvPr id="2" name="灯片编号占位符 1">
            <a:extLst>
              <a:ext uri="{FF2B5EF4-FFF2-40B4-BE49-F238E27FC236}">
                <a16:creationId xmlns:a16="http://schemas.microsoft.com/office/drawing/2014/main" id="{FA72FF8E-6516-40C5-A224-FD2791863B06}"/>
              </a:ext>
            </a:extLst>
          </p:cNvPr>
          <p:cNvSpPr>
            <a:spLocks noGrp="1"/>
          </p:cNvSpPr>
          <p:nvPr>
            <p:ph type="sldNum" sz="quarter" idx="12"/>
          </p:nvPr>
        </p:nvSpPr>
        <p:spPr/>
        <p:txBody>
          <a:bodyPr/>
          <a:lstStyle/>
          <a:p>
            <a:fld id="{01635508-54A0-4FB0-A4C5-6467DE85E924}" type="slidenum">
              <a:rPr lang="zh-CN" altLang="en-US" smtClean="0"/>
              <a:t>19</a:t>
            </a:fld>
            <a:endParaRPr lang="zh-CN" altLang="en-US"/>
          </a:p>
        </p:txBody>
      </p:sp>
      <p:sp>
        <p:nvSpPr>
          <p:cNvPr id="12" name="文本框 11">
            <a:extLst>
              <a:ext uri="{FF2B5EF4-FFF2-40B4-BE49-F238E27FC236}">
                <a16:creationId xmlns:a16="http://schemas.microsoft.com/office/drawing/2014/main" id="{C7FE57B1-2AE2-447E-A894-94A00D766B5E}"/>
              </a:ext>
            </a:extLst>
          </p:cNvPr>
          <p:cNvSpPr txBox="1"/>
          <p:nvPr/>
        </p:nvSpPr>
        <p:spPr>
          <a:xfrm>
            <a:off x="431453" y="1088061"/>
            <a:ext cx="11464895" cy="5035353"/>
          </a:xfrm>
          <a:prstGeom prst="rect">
            <a:avLst/>
          </a:prstGeom>
          <a:noFill/>
        </p:spPr>
        <p:txBody>
          <a:bodyPr wrap="square" rtlCol="0">
            <a:spAutoFit/>
          </a:bodyPr>
          <a:lstStyle/>
          <a:p>
            <a:pPr>
              <a:lnSpc>
                <a:spcPct val="150000"/>
              </a:lnSpc>
            </a:pPr>
            <a:r>
              <a:rPr lang="en-US" altLang="zh-CN" dirty="0"/>
              <a:t>References</a:t>
            </a:r>
            <a:r>
              <a:rPr lang="zh-CN" altLang="en-US" dirty="0"/>
              <a:t>：</a:t>
            </a:r>
            <a:endParaRPr lang="en-US" altLang="zh-CN" dirty="0"/>
          </a:p>
          <a:p>
            <a:pPr>
              <a:lnSpc>
                <a:spcPct val="150000"/>
              </a:lnSpc>
            </a:pPr>
            <a:r>
              <a:rPr lang="en-US" altLang="zh-CN" dirty="0"/>
              <a:t>[1]</a:t>
            </a:r>
            <a:r>
              <a:rPr lang="zh-CN" altLang="en-US" dirty="0"/>
              <a:t>苏剑林</a:t>
            </a:r>
            <a:r>
              <a:rPr lang="en-US" altLang="zh-CN" dirty="0"/>
              <a:t>. (Aug. 26, 2018). 《</a:t>
            </a:r>
            <a:r>
              <a:rPr lang="zh-CN" altLang="en-US" dirty="0"/>
              <a:t>细水长</a:t>
            </a:r>
            <a:r>
              <a:rPr lang="en-US" altLang="zh-CN" dirty="0"/>
              <a:t>flow</a:t>
            </a:r>
            <a:r>
              <a:rPr lang="zh-CN" altLang="en-US" dirty="0"/>
              <a:t>之</a:t>
            </a:r>
            <a:r>
              <a:rPr lang="en-US" altLang="zh-CN" dirty="0" err="1"/>
              <a:t>RealNVP</a:t>
            </a:r>
            <a:r>
              <a:rPr lang="zh-CN" altLang="en-US" dirty="0"/>
              <a:t>与</a:t>
            </a:r>
            <a:r>
              <a:rPr lang="en-US" altLang="zh-CN" dirty="0"/>
              <a:t>Glow</a:t>
            </a:r>
            <a:r>
              <a:rPr lang="zh-CN" altLang="en-US" dirty="0"/>
              <a:t>：流模型的传承与升华 </a:t>
            </a:r>
            <a:r>
              <a:rPr lang="en-US" altLang="zh-CN" dirty="0"/>
              <a:t>》[Blog post]. Retrieved from </a:t>
            </a:r>
            <a:r>
              <a:rPr lang="en-US" altLang="zh-CN" dirty="0">
                <a:hlinkClick r:id="rId4"/>
              </a:rPr>
              <a:t>https://spaces.ac.cn/archives/5807</a:t>
            </a:r>
            <a:endParaRPr lang="en-US" altLang="zh-CN" dirty="0"/>
          </a:p>
          <a:p>
            <a:pPr>
              <a:lnSpc>
                <a:spcPct val="150000"/>
              </a:lnSpc>
            </a:pPr>
            <a:r>
              <a:rPr lang="en-US" altLang="zh-CN" dirty="0"/>
              <a:t>[2]</a:t>
            </a:r>
            <a:r>
              <a:rPr lang="zh-CN" altLang="en-US" dirty="0"/>
              <a:t>苏剑林</a:t>
            </a:r>
            <a:r>
              <a:rPr lang="en-US" altLang="zh-CN" dirty="0"/>
              <a:t>. (Aug. 11, 2018). 《</a:t>
            </a:r>
            <a:r>
              <a:rPr lang="zh-CN" altLang="en-US" dirty="0"/>
              <a:t>细水长</a:t>
            </a:r>
            <a:r>
              <a:rPr lang="en-US" altLang="zh-CN" dirty="0"/>
              <a:t>flow</a:t>
            </a:r>
            <a:r>
              <a:rPr lang="zh-CN" altLang="en-US" dirty="0"/>
              <a:t>之</a:t>
            </a:r>
            <a:r>
              <a:rPr lang="en-US" altLang="zh-CN" dirty="0"/>
              <a:t>NICE</a:t>
            </a:r>
            <a:r>
              <a:rPr lang="zh-CN" altLang="en-US" dirty="0"/>
              <a:t>：流模型的基本概念与实现 </a:t>
            </a:r>
            <a:r>
              <a:rPr lang="en-US" altLang="zh-CN" dirty="0"/>
              <a:t>》[Blog post]. Retrieved from </a:t>
            </a:r>
            <a:r>
              <a:rPr lang="en-US" altLang="zh-CN" dirty="0">
                <a:hlinkClick r:id="rId5"/>
              </a:rPr>
              <a:t>https://spaces.ac.cn/archives/5776</a:t>
            </a:r>
            <a:endParaRPr lang="en-US" altLang="zh-CN" dirty="0"/>
          </a:p>
          <a:p>
            <a:pPr>
              <a:lnSpc>
                <a:spcPct val="150000"/>
              </a:lnSpc>
            </a:pPr>
            <a:r>
              <a:rPr lang="en-US" altLang="zh-CN" dirty="0"/>
              <a:t>[3] Lilian Weng. Flow-based deep generative models. Lilian-weng.github.io, 2018</a:t>
            </a:r>
          </a:p>
          <a:p>
            <a:pPr>
              <a:lnSpc>
                <a:spcPct val="150000"/>
              </a:lnSpc>
            </a:pPr>
            <a:r>
              <a:rPr lang="en-US" altLang="zh-CN" dirty="0"/>
              <a:t>[4] Hung-</a:t>
            </a:r>
            <a:r>
              <a:rPr lang="en-US" altLang="zh-CN" dirty="0" err="1"/>
              <a:t>yi</a:t>
            </a:r>
            <a:r>
              <a:rPr lang="en-US" altLang="zh-CN" dirty="0"/>
              <a:t> Lee. Machine Learning </a:t>
            </a:r>
            <a:r>
              <a:rPr lang="en-US" altLang="zh-CN" dirty="0">
                <a:hlinkClick r:id="rId6"/>
              </a:rPr>
              <a:t>https://www.youtube.com/watch?v=uXY18nzdSsM&amp;t=2864s</a:t>
            </a:r>
            <a:endParaRPr lang="en-US" altLang="zh-CN" dirty="0"/>
          </a:p>
          <a:p>
            <a:pPr>
              <a:lnSpc>
                <a:spcPct val="150000"/>
              </a:lnSpc>
            </a:pPr>
            <a:r>
              <a:rPr lang="en-US" altLang="zh-CN" dirty="0"/>
              <a:t>[5] </a:t>
            </a:r>
            <a:r>
              <a:rPr lang="en-US" altLang="zh-CN" dirty="0" err="1"/>
              <a:t>Dinh</a:t>
            </a:r>
            <a:r>
              <a:rPr lang="en-US" altLang="zh-CN" dirty="0"/>
              <a:t>, L., Krueger, D., and </a:t>
            </a:r>
            <a:r>
              <a:rPr lang="en-US" altLang="zh-CN" dirty="0" err="1"/>
              <a:t>Bengio</a:t>
            </a:r>
            <a:r>
              <a:rPr lang="en-US" altLang="zh-CN" dirty="0"/>
              <a:t>, Y. (2014). Nice: non-linear independent components </a:t>
            </a:r>
            <a:r>
              <a:rPr lang="en-US" altLang="zh-CN"/>
              <a:t>estimation.  </a:t>
            </a:r>
            <a:r>
              <a:rPr lang="en-US" altLang="zh-CN" i="1"/>
              <a:t>arXiv</a:t>
            </a:r>
            <a:r>
              <a:rPr lang="en-US" altLang="zh-CN" i="1" dirty="0"/>
              <a:t> preprint arXiv:1410.8516</a:t>
            </a:r>
            <a:r>
              <a:rPr lang="en-US" altLang="zh-CN" dirty="0"/>
              <a:t>. </a:t>
            </a:r>
            <a:br>
              <a:rPr lang="en-US" altLang="zh-CN" dirty="0"/>
            </a:br>
            <a:r>
              <a:rPr lang="en-US" altLang="zh-CN" dirty="0"/>
              <a:t>[6] </a:t>
            </a:r>
            <a:r>
              <a:rPr lang="en-US" altLang="zh-CN" dirty="0" err="1"/>
              <a:t>Dinh</a:t>
            </a:r>
            <a:r>
              <a:rPr lang="en-US" altLang="zh-CN" dirty="0"/>
              <a:t>, L., </a:t>
            </a:r>
            <a:r>
              <a:rPr lang="en-US" altLang="zh-CN" dirty="0" err="1"/>
              <a:t>Sohl</a:t>
            </a:r>
            <a:r>
              <a:rPr lang="en-US" altLang="zh-CN" dirty="0"/>
              <a:t>-Dickstein, J., and </a:t>
            </a:r>
            <a:r>
              <a:rPr lang="en-US" altLang="zh-CN" dirty="0" err="1"/>
              <a:t>Bengio</a:t>
            </a:r>
            <a:r>
              <a:rPr lang="en-US" altLang="zh-CN" dirty="0"/>
              <a:t>, S. (2016). Density estimation using Real NVP. </a:t>
            </a:r>
            <a:r>
              <a:rPr lang="en-US" altLang="zh-CN" i="1" dirty="0" err="1"/>
              <a:t>arXiv</a:t>
            </a:r>
            <a:r>
              <a:rPr lang="en-US" altLang="zh-CN" i="1" dirty="0"/>
              <a:t> preprint arXiv:1605.08803</a:t>
            </a:r>
            <a:r>
              <a:rPr lang="en-US" altLang="zh-CN" dirty="0"/>
              <a:t>. </a:t>
            </a:r>
            <a:br>
              <a:rPr lang="en-US" altLang="zh-CN" dirty="0"/>
            </a:br>
            <a:r>
              <a:rPr lang="en-US" altLang="zh-CN" dirty="0"/>
              <a:t>[7] </a:t>
            </a:r>
            <a:r>
              <a:rPr lang="en-US" altLang="zh-CN" dirty="0" err="1"/>
              <a:t>Kingma</a:t>
            </a:r>
            <a:r>
              <a:rPr lang="en-US" altLang="zh-CN" dirty="0"/>
              <a:t> D P, </a:t>
            </a:r>
            <a:r>
              <a:rPr lang="en-US" altLang="zh-CN" dirty="0" err="1"/>
              <a:t>Dhariwal</a:t>
            </a:r>
            <a:r>
              <a:rPr lang="en-US" altLang="zh-CN" dirty="0"/>
              <a:t> P. Glow: Generative flow with invertible 1x1 convolutions[J]. Advances in neural information processing systems, 2018, 31.</a:t>
            </a:r>
          </a:p>
        </p:txBody>
      </p:sp>
    </p:spTree>
    <p:extLst>
      <p:ext uri="{BB962C8B-B14F-4D97-AF65-F5344CB8AC3E}">
        <p14:creationId xmlns:p14="http://schemas.microsoft.com/office/powerpoint/2010/main" val="2486863089"/>
      </p:ext>
    </p:extLst>
  </p:cSld>
  <p:clrMapOvr>
    <a:masterClrMapping/>
  </p:clrMapOvr>
  <mc:AlternateContent xmlns:mc="http://schemas.openxmlformats.org/markup-compatibility/2006" xmlns:p14="http://schemas.microsoft.com/office/powerpoint/2010/main">
    <mc:Choice Requires="p14">
      <p:transition spd="slow" p14:dur="2000" advTm="52641"/>
    </mc:Choice>
    <mc:Fallback xmlns="">
      <p:transition spd="slow" advTm="52641"/>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p:cNvPicPr>
            <a:picLocks noChangeAspect="1"/>
          </p:cNvPicPr>
          <p:nvPr/>
        </p:nvPicPr>
        <p:blipFill rotWithShape="1">
          <a:blip r:embed="rId3" cstate="print">
            <a:extLst>
              <a:ext uri="{28A0092B-C50C-407E-A947-70E740481C1C}">
                <a14:useLocalDpi xmlns:a14="http://schemas.microsoft.com/office/drawing/2010/main" val="0"/>
              </a:ext>
            </a:extLst>
          </a:blip>
          <a:srcRect t="22098" r="14726" b="48018"/>
          <a:stretch>
            <a:fillRect/>
          </a:stretch>
        </p:blipFill>
        <p:spPr>
          <a:xfrm>
            <a:off x="6321176" y="2686649"/>
            <a:ext cx="5870824" cy="1542449"/>
          </a:xfrm>
          <a:prstGeom prst="rect">
            <a:avLst/>
          </a:prstGeom>
        </p:spPr>
      </p:pic>
      <p:sp>
        <p:nvSpPr>
          <p:cNvPr id="18" name="矩形 17"/>
          <p:cNvSpPr/>
          <p:nvPr/>
        </p:nvSpPr>
        <p:spPr>
          <a:xfrm>
            <a:off x="2857500" y="2686049"/>
            <a:ext cx="9334500" cy="1543049"/>
          </a:xfrm>
          <a:prstGeom prst="rect">
            <a:avLst/>
          </a:prstGeom>
          <a:gradFill flip="none" rotWithShape="1">
            <a:gsLst>
              <a:gs pos="35000">
                <a:srgbClr val="014924"/>
              </a:gs>
              <a:gs pos="0">
                <a:srgbClr val="014924"/>
              </a:gs>
              <a:gs pos="59000">
                <a:srgbClr val="014924">
                  <a:alpha val="95000"/>
                </a:srgbClr>
              </a:gs>
              <a:gs pos="77000">
                <a:srgbClr val="014924">
                  <a:alpha val="70000"/>
                </a:srgbClr>
              </a:gs>
              <a:gs pos="100000">
                <a:srgbClr val="014924">
                  <a:alpha val="60000"/>
                </a:srgb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1123950" y="2686050"/>
            <a:ext cx="1543050" cy="1543050"/>
            <a:chOff x="1123950" y="2686050"/>
            <a:chExt cx="1543050" cy="1543050"/>
          </a:xfrm>
          <a:solidFill>
            <a:srgbClr val="014924"/>
          </a:solidFill>
        </p:grpSpPr>
        <p:sp>
          <p:nvSpPr>
            <p:cNvPr id="9" name="矩形 8"/>
            <p:cNvSpPr/>
            <p:nvPr/>
          </p:nvSpPr>
          <p:spPr>
            <a:xfrm>
              <a:off x="1123950" y="2686050"/>
              <a:ext cx="1543050" cy="15430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文本框 5"/>
            <p:cNvSpPr txBox="1"/>
            <p:nvPr/>
          </p:nvSpPr>
          <p:spPr>
            <a:xfrm>
              <a:off x="1407285" y="2903577"/>
              <a:ext cx="976380" cy="1107996"/>
            </a:xfrm>
            <a:prstGeom prst="rect">
              <a:avLst/>
            </a:prstGeom>
            <a:grpFill/>
          </p:spPr>
          <p:txBody>
            <a:bodyPr wrap="square" rtlCol="0">
              <a:spAutoFit/>
            </a:bodyPr>
            <a:lstStyle/>
            <a:p>
              <a:pPr algn="ctr"/>
              <a:r>
                <a:rPr lang="en-US" altLang="zh-CN" sz="6600" b="1" dirty="0">
                  <a:solidFill>
                    <a:schemeClr val="bg1"/>
                  </a:solidFill>
                  <a:latin typeface="微软雅黑" panose="020B0503020204020204" pitchFamily="34" charset="-122"/>
                  <a:ea typeface="微软雅黑" panose="020B0503020204020204" pitchFamily="34" charset="-122"/>
                </a:rPr>
                <a:t>2</a:t>
              </a:r>
              <a:endParaRPr lang="zh-CN" altLang="en-US" sz="6600" b="1" dirty="0">
                <a:solidFill>
                  <a:schemeClr val="bg1"/>
                </a:solidFill>
                <a:latin typeface="微软雅黑" panose="020B0503020204020204" pitchFamily="34" charset="-122"/>
                <a:ea typeface="微软雅黑" panose="020B0503020204020204" pitchFamily="34" charset="-122"/>
              </a:endParaRPr>
            </a:p>
          </p:txBody>
        </p:sp>
      </p:grpSp>
      <p:sp>
        <p:nvSpPr>
          <p:cNvPr id="16" name="文本框 15"/>
          <p:cNvSpPr txBox="1"/>
          <p:nvPr/>
        </p:nvSpPr>
        <p:spPr>
          <a:xfrm>
            <a:off x="2950335" y="3226742"/>
            <a:ext cx="7341232" cy="461661"/>
          </a:xfrm>
          <a:prstGeom prst="rect">
            <a:avLst/>
          </a:prstGeom>
          <a:noFill/>
        </p:spPr>
        <p:txBody>
          <a:bodyPr wrap="none" lIns="91436" tIns="45718" rIns="91436" bIns="45718" rtlCol="0">
            <a:spAutoFit/>
          </a:bodyPr>
          <a:lstStyle/>
          <a:p>
            <a:r>
              <a:rPr lang="en-US" altLang="zh-CN" sz="2400" dirty="0">
                <a:solidFill>
                  <a:schemeClr val="bg1"/>
                </a:solidFill>
                <a:latin typeface="微软雅黑" panose="020B0503020204020204" pitchFamily="34" charset="-122"/>
                <a:ea typeface="微软雅黑" panose="020B0503020204020204" pitchFamily="34" charset="-122"/>
              </a:rPr>
              <a:t>Flow-based Model in Low-level Computer Vision</a:t>
            </a:r>
          </a:p>
        </p:txBody>
      </p:sp>
      <p:pic>
        <p:nvPicPr>
          <p:cNvPr id="12" name="图片 11"/>
          <p:cNvPicPr>
            <a:picLocks noChangeAspect="1"/>
          </p:cNvPicPr>
          <p:nvPr/>
        </p:nvPicPr>
        <p:blipFill rotWithShape="1">
          <a:blip r:embed="rId4" cstate="print">
            <a:extLst>
              <a:ext uri="{28A0092B-C50C-407E-A947-70E740481C1C}">
                <a14:useLocalDpi xmlns:a14="http://schemas.microsoft.com/office/drawing/2010/main" val="0"/>
              </a:ext>
            </a:extLst>
          </a:blip>
          <a:srcRect t="23546" b="8830"/>
          <a:stretch>
            <a:fillRect/>
          </a:stretch>
        </p:blipFill>
        <p:spPr>
          <a:xfrm>
            <a:off x="9815333" y="135922"/>
            <a:ext cx="2376667" cy="734513"/>
          </a:xfrm>
          <a:prstGeom prst="rect">
            <a:avLst/>
          </a:prstGeom>
        </p:spPr>
      </p:pic>
      <p:sp>
        <p:nvSpPr>
          <p:cNvPr id="3" name="灯片编号占位符 2">
            <a:extLst>
              <a:ext uri="{FF2B5EF4-FFF2-40B4-BE49-F238E27FC236}">
                <a16:creationId xmlns:a16="http://schemas.microsoft.com/office/drawing/2014/main" id="{908CE4D1-9F12-4372-8BF5-5D9305DE4E5C}"/>
              </a:ext>
            </a:extLst>
          </p:cNvPr>
          <p:cNvSpPr>
            <a:spLocks noGrp="1"/>
          </p:cNvSpPr>
          <p:nvPr>
            <p:ph type="sldNum" sz="quarter" idx="12"/>
          </p:nvPr>
        </p:nvSpPr>
        <p:spPr/>
        <p:txBody>
          <a:bodyPr/>
          <a:lstStyle/>
          <a:p>
            <a:fld id="{01635508-54A0-4FB0-A4C5-6467DE85E924}" type="slidenum">
              <a:rPr lang="zh-CN" altLang="en-US" smtClean="0"/>
              <a:t>20</a:t>
            </a:fld>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74" name="圆角矩形 73"/>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76" name="文本框 75"/>
          <p:cNvSpPr txBox="1"/>
          <p:nvPr/>
        </p:nvSpPr>
        <p:spPr>
          <a:xfrm>
            <a:off x="701167" y="144940"/>
            <a:ext cx="1313815" cy="582295"/>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灯片编号占位符 2">
            <a:extLst>
              <a:ext uri="{FF2B5EF4-FFF2-40B4-BE49-F238E27FC236}">
                <a16:creationId xmlns:a16="http://schemas.microsoft.com/office/drawing/2014/main" id="{2485798D-77DE-4986-9ED6-17DF995C10BF}"/>
              </a:ext>
            </a:extLst>
          </p:cNvPr>
          <p:cNvSpPr>
            <a:spLocks noGrp="1"/>
          </p:cNvSpPr>
          <p:nvPr>
            <p:ph type="sldNum" sz="quarter" idx="12"/>
          </p:nvPr>
        </p:nvSpPr>
        <p:spPr/>
        <p:txBody>
          <a:bodyPr/>
          <a:lstStyle/>
          <a:p>
            <a:fld id="{01635508-54A0-4FB0-A4C5-6467DE85E924}" type="slidenum">
              <a:rPr lang="zh-CN" altLang="en-US" smtClean="0"/>
              <a:t>21</a:t>
            </a:fld>
            <a:endParaRPr lang="zh-CN" altLang="en-US"/>
          </a:p>
        </p:txBody>
      </p:sp>
      <p:sp>
        <p:nvSpPr>
          <p:cNvPr id="14" name="矩形 13">
            <a:extLst>
              <a:ext uri="{FF2B5EF4-FFF2-40B4-BE49-F238E27FC236}">
                <a16:creationId xmlns:a16="http://schemas.microsoft.com/office/drawing/2014/main" id="{676BFD82-8D10-4B2F-AC85-C7D428CD0352}"/>
              </a:ext>
            </a:extLst>
          </p:cNvPr>
          <p:cNvSpPr/>
          <p:nvPr/>
        </p:nvSpPr>
        <p:spPr>
          <a:xfrm>
            <a:off x="701167" y="1304605"/>
            <a:ext cx="9869834" cy="4199868"/>
          </a:xfrm>
          <a:prstGeom prst="rect">
            <a:avLst/>
          </a:prstGeom>
        </p:spPr>
        <p:txBody>
          <a:bodyPr wrap="square">
            <a:spAutoFit/>
          </a:bodyPr>
          <a:lstStyle/>
          <a:p>
            <a:pPr>
              <a:lnSpc>
                <a:spcPct val="150000"/>
              </a:lnSpc>
            </a:pPr>
            <a:r>
              <a:rPr lang="zh-CN" altLang="en-US" dirty="0"/>
              <a:t>流模型应用到底层视觉有两个特点，一个是利用最大似然函数去估计概率密度，一个是设计了一个可逆的网络。现有的一些基于流模型的底层视觉任务都是发挥了这两个特点。</a:t>
            </a:r>
            <a:endParaRPr lang="en-US" altLang="zh-CN" dirty="0"/>
          </a:p>
          <a:p>
            <a:pPr>
              <a:lnSpc>
                <a:spcPct val="150000"/>
              </a:lnSpc>
            </a:pPr>
            <a:endParaRPr lang="en-US" altLang="zh-CN" dirty="0"/>
          </a:p>
          <a:p>
            <a:pPr>
              <a:lnSpc>
                <a:spcPct val="150000"/>
              </a:lnSpc>
            </a:pPr>
            <a:r>
              <a:rPr lang="zh-CN" altLang="en-US" dirty="0"/>
              <a:t>利用最大似然函数的方法将传统的回归损失替换成了最大似然损失，基于的动机则是认为对于一个低质量的图片，其对应的高质量图片是有很多个版本的，反之亦然。使用回归损失是将多个高质量的版本取平均得到输出，而更合理的方式则是找到多个高质量图片中概率最大的一个图片作为输出，使用的方法就是用最大似然估计。</a:t>
            </a:r>
            <a:endParaRPr lang="en-US" altLang="zh-CN" dirty="0"/>
          </a:p>
          <a:p>
            <a:pPr>
              <a:lnSpc>
                <a:spcPct val="150000"/>
              </a:lnSpc>
            </a:pPr>
            <a:endParaRPr lang="en-US" altLang="zh-CN" dirty="0"/>
          </a:p>
          <a:p>
            <a:pPr>
              <a:lnSpc>
                <a:spcPct val="150000"/>
              </a:lnSpc>
            </a:pPr>
            <a:r>
              <a:rPr lang="zh-CN" altLang="en-US" dirty="0"/>
              <a:t>利用可逆网络的方法通常会训练两个过程，前向过程和反向过程。因为网络完全可逆，可以利用前向过程和反向过程的不同特点学习不同的东西。</a:t>
            </a:r>
            <a:endParaRPr lang="en-US" altLang="zh-CN" dirty="0"/>
          </a:p>
        </p:txBody>
      </p:sp>
    </p:spTree>
    <p:extLst>
      <p:ext uri="{BB962C8B-B14F-4D97-AF65-F5344CB8AC3E}">
        <p14:creationId xmlns:p14="http://schemas.microsoft.com/office/powerpoint/2010/main" val="32342052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74" name="圆角矩形 73"/>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76" name="文本框 75"/>
          <p:cNvSpPr txBox="1"/>
          <p:nvPr/>
        </p:nvSpPr>
        <p:spPr>
          <a:xfrm>
            <a:off x="701167" y="144940"/>
            <a:ext cx="1313815" cy="582295"/>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灯片编号占位符 2">
            <a:extLst>
              <a:ext uri="{FF2B5EF4-FFF2-40B4-BE49-F238E27FC236}">
                <a16:creationId xmlns:a16="http://schemas.microsoft.com/office/drawing/2014/main" id="{2485798D-77DE-4986-9ED6-17DF995C10BF}"/>
              </a:ext>
            </a:extLst>
          </p:cNvPr>
          <p:cNvSpPr>
            <a:spLocks noGrp="1"/>
          </p:cNvSpPr>
          <p:nvPr>
            <p:ph type="sldNum" sz="quarter" idx="12"/>
          </p:nvPr>
        </p:nvSpPr>
        <p:spPr/>
        <p:txBody>
          <a:bodyPr/>
          <a:lstStyle/>
          <a:p>
            <a:fld id="{01635508-54A0-4FB0-A4C5-6467DE85E924}" type="slidenum">
              <a:rPr lang="zh-CN" altLang="en-US" smtClean="0"/>
              <a:t>22</a:t>
            </a:fld>
            <a:endParaRPr lang="zh-CN" altLang="en-US"/>
          </a:p>
        </p:txBody>
      </p:sp>
      <p:sp>
        <p:nvSpPr>
          <p:cNvPr id="14" name="矩形 13">
            <a:extLst>
              <a:ext uri="{FF2B5EF4-FFF2-40B4-BE49-F238E27FC236}">
                <a16:creationId xmlns:a16="http://schemas.microsoft.com/office/drawing/2014/main" id="{676BFD82-8D10-4B2F-AC85-C7D428CD0352}"/>
              </a:ext>
            </a:extLst>
          </p:cNvPr>
          <p:cNvSpPr/>
          <p:nvPr/>
        </p:nvSpPr>
        <p:spPr>
          <a:xfrm>
            <a:off x="533400" y="779782"/>
            <a:ext cx="9869834" cy="460382"/>
          </a:xfrm>
          <a:prstGeom prst="rect">
            <a:avLst/>
          </a:prstGeom>
        </p:spPr>
        <p:txBody>
          <a:bodyPr wrap="square">
            <a:spAutoFit/>
          </a:bodyPr>
          <a:lstStyle/>
          <a:p>
            <a:pPr>
              <a:lnSpc>
                <a:spcPct val="150000"/>
              </a:lnSpc>
            </a:pPr>
            <a:r>
              <a:rPr lang="en-US" altLang="zh-CN" dirty="0" err="1"/>
              <a:t>SRFlow</a:t>
            </a:r>
            <a:r>
              <a:rPr lang="zh-CN" altLang="en-US" dirty="0"/>
              <a:t>：</a:t>
            </a:r>
            <a:r>
              <a:rPr lang="en-US" altLang="zh-CN" dirty="0"/>
              <a:t>Learning the Super-Resolution Space with Normalizing Flow		ECCV2020</a:t>
            </a:r>
          </a:p>
        </p:txBody>
      </p:sp>
      <p:pic>
        <p:nvPicPr>
          <p:cNvPr id="4" name="图片 3">
            <a:extLst>
              <a:ext uri="{FF2B5EF4-FFF2-40B4-BE49-F238E27FC236}">
                <a16:creationId xmlns:a16="http://schemas.microsoft.com/office/drawing/2014/main" id="{B09B8C8A-953B-418A-AC52-0D0C4E2CD685}"/>
              </a:ext>
            </a:extLst>
          </p:cNvPr>
          <p:cNvPicPr>
            <a:picLocks noChangeAspect="1"/>
          </p:cNvPicPr>
          <p:nvPr/>
        </p:nvPicPr>
        <p:blipFill>
          <a:blip r:embed="rId4"/>
          <a:stretch>
            <a:fillRect/>
          </a:stretch>
        </p:blipFill>
        <p:spPr>
          <a:xfrm>
            <a:off x="1523422" y="1234770"/>
            <a:ext cx="7636742" cy="2342123"/>
          </a:xfrm>
          <a:prstGeom prst="rect">
            <a:avLst/>
          </a:prstGeom>
        </p:spPr>
      </p:pic>
      <p:pic>
        <p:nvPicPr>
          <p:cNvPr id="5" name="图片 4">
            <a:extLst>
              <a:ext uri="{FF2B5EF4-FFF2-40B4-BE49-F238E27FC236}">
                <a16:creationId xmlns:a16="http://schemas.microsoft.com/office/drawing/2014/main" id="{DB01387B-2213-47C5-9B89-02223C188D03}"/>
              </a:ext>
            </a:extLst>
          </p:cNvPr>
          <p:cNvPicPr>
            <a:picLocks noChangeAspect="1"/>
          </p:cNvPicPr>
          <p:nvPr/>
        </p:nvPicPr>
        <p:blipFill>
          <a:blip r:embed="rId5"/>
          <a:stretch>
            <a:fillRect/>
          </a:stretch>
        </p:blipFill>
        <p:spPr>
          <a:xfrm>
            <a:off x="1358074" y="3646728"/>
            <a:ext cx="8624126" cy="3090873"/>
          </a:xfrm>
          <a:prstGeom prst="rect">
            <a:avLst/>
          </a:prstGeom>
        </p:spPr>
      </p:pic>
    </p:spTree>
    <p:extLst>
      <p:ext uri="{BB962C8B-B14F-4D97-AF65-F5344CB8AC3E}">
        <p14:creationId xmlns:p14="http://schemas.microsoft.com/office/powerpoint/2010/main" val="356907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a:extLst>
              <a:ext uri="{FF2B5EF4-FFF2-40B4-BE49-F238E27FC236}">
                <a16:creationId xmlns:a16="http://schemas.microsoft.com/office/drawing/2014/main" id="{7B0611FB-F2EA-4D18-BE04-5437E3E22016}"/>
              </a:ext>
            </a:extLst>
          </p:cNvPr>
          <p:cNvPicPr>
            <a:picLocks noChangeAspect="1"/>
          </p:cNvPicPr>
          <p:nvPr/>
        </p:nvPicPr>
        <p:blipFill rotWithShape="1">
          <a:blip r:embed="rId3"/>
          <a:srcRect t="12098"/>
          <a:stretch/>
        </p:blipFill>
        <p:spPr>
          <a:xfrm>
            <a:off x="644070" y="1070190"/>
            <a:ext cx="9336912" cy="2192201"/>
          </a:xfrm>
          <a:prstGeom prst="rect">
            <a:avLst/>
          </a:prstGeom>
        </p:spPr>
      </p:pic>
      <p:grpSp>
        <p:nvGrpSpPr>
          <p:cNvPr id="2" name="组合 1"/>
          <p:cNvGrpSpPr/>
          <p:nvPr/>
        </p:nvGrpSpPr>
        <p:grpSpPr>
          <a:xfrm>
            <a:off x="-254000" y="201683"/>
            <a:ext cx="898070" cy="523220"/>
            <a:chOff x="-254000" y="201683"/>
            <a:chExt cx="898070" cy="523220"/>
          </a:xfrm>
        </p:grpSpPr>
        <p:sp>
          <p:nvSpPr>
            <p:cNvPr id="74" name="圆角矩形 73"/>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76" name="文本框 75"/>
          <p:cNvSpPr txBox="1"/>
          <p:nvPr/>
        </p:nvSpPr>
        <p:spPr>
          <a:xfrm>
            <a:off x="701167" y="144940"/>
            <a:ext cx="1313815" cy="582295"/>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4"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灯片编号占位符 2">
            <a:extLst>
              <a:ext uri="{FF2B5EF4-FFF2-40B4-BE49-F238E27FC236}">
                <a16:creationId xmlns:a16="http://schemas.microsoft.com/office/drawing/2014/main" id="{2485798D-77DE-4986-9ED6-17DF995C10BF}"/>
              </a:ext>
            </a:extLst>
          </p:cNvPr>
          <p:cNvSpPr>
            <a:spLocks noGrp="1"/>
          </p:cNvSpPr>
          <p:nvPr>
            <p:ph type="sldNum" sz="quarter" idx="12"/>
          </p:nvPr>
        </p:nvSpPr>
        <p:spPr/>
        <p:txBody>
          <a:bodyPr/>
          <a:lstStyle/>
          <a:p>
            <a:fld id="{01635508-54A0-4FB0-A4C5-6467DE85E924}" type="slidenum">
              <a:rPr lang="zh-CN" altLang="en-US" smtClean="0"/>
              <a:t>23</a:t>
            </a:fld>
            <a:endParaRPr lang="zh-CN" altLang="en-US"/>
          </a:p>
        </p:txBody>
      </p:sp>
      <p:sp>
        <p:nvSpPr>
          <p:cNvPr id="14" name="矩形 13">
            <a:extLst>
              <a:ext uri="{FF2B5EF4-FFF2-40B4-BE49-F238E27FC236}">
                <a16:creationId xmlns:a16="http://schemas.microsoft.com/office/drawing/2014/main" id="{676BFD82-8D10-4B2F-AC85-C7D428CD0352}"/>
              </a:ext>
            </a:extLst>
          </p:cNvPr>
          <p:cNvSpPr/>
          <p:nvPr/>
        </p:nvSpPr>
        <p:spPr>
          <a:xfrm>
            <a:off x="533400" y="630523"/>
            <a:ext cx="9869834" cy="2542363"/>
          </a:xfrm>
          <a:prstGeom prst="rect">
            <a:avLst/>
          </a:prstGeom>
        </p:spPr>
        <p:txBody>
          <a:bodyPr wrap="square">
            <a:spAutoFit/>
          </a:bodyPr>
          <a:lstStyle/>
          <a:p>
            <a:pPr>
              <a:lnSpc>
                <a:spcPct val="150000"/>
              </a:lnSpc>
            </a:pPr>
            <a:r>
              <a:rPr lang="en-US" altLang="zh-CN" dirty="0"/>
              <a:t>Invertible Denoising Network: A Light Solution for Real Noise Removal		CVPR2021</a:t>
            </a:r>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a:p>
            <a:pPr>
              <a:lnSpc>
                <a:spcPct val="150000"/>
              </a:lnSpc>
            </a:pPr>
            <a:endParaRPr lang="en-US" altLang="zh-CN" dirty="0"/>
          </a:p>
        </p:txBody>
      </p:sp>
      <p:pic>
        <p:nvPicPr>
          <p:cNvPr id="7" name="图片 6">
            <a:extLst>
              <a:ext uri="{FF2B5EF4-FFF2-40B4-BE49-F238E27FC236}">
                <a16:creationId xmlns:a16="http://schemas.microsoft.com/office/drawing/2014/main" id="{272689B1-0735-4C83-9D99-ACD0F97F89A1}"/>
              </a:ext>
            </a:extLst>
          </p:cNvPr>
          <p:cNvPicPr>
            <a:picLocks noChangeAspect="1"/>
          </p:cNvPicPr>
          <p:nvPr/>
        </p:nvPicPr>
        <p:blipFill>
          <a:blip r:embed="rId5"/>
          <a:stretch>
            <a:fillRect/>
          </a:stretch>
        </p:blipFill>
        <p:spPr>
          <a:xfrm>
            <a:off x="1410162" y="3779099"/>
            <a:ext cx="7804727" cy="2942376"/>
          </a:xfrm>
          <a:prstGeom prst="rect">
            <a:avLst/>
          </a:prstGeom>
        </p:spPr>
      </p:pic>
      <p:sp>
        <p:nvSpPr>
          <p:cNvPr id="8" name="矩形 7">
            <a:extLst>
              <a:ext uri="{FF2B5EF4-FFF2-40B4-BE49-F238E27FC236}">
                <a16:creationId xmlns:a16="http://schemas.microsoft.com/office/drawing/2014/main" id="{2CB1F51B-5828-491D-BA0A-702458169F6D}"/>
              </a:ext>
            </a:extLst>
          </p:cNvPr>
          <p:cNvSpPr/>
          <p:nvPr/>
        </p:nvSpPr>
        <p:spPr>
          <a:xfrm>
            <a:off x="644070" y="3344458"/>
            <a:ext cx="10363200" cy="464871"/>
          </a:xfrm>
          <a:prstGeom prst="rect">
            <a:avLst/>
          </a:prstGeom>
        </p:spPr>
        <p:txBody>
          <a:bodyPr wrap="square">
            <a:spAutoFit/>
          </a:bodyPr>
          <a:lstStyle/>
          <a:p>
            <a:pPr>
              <a:lnSpc>
                <a:spcPct val="150000"/>
              </a:lnSpc>
            </a:pPr>
            <a:r>
              <a:rPr lang="en-US" altLang="zh-CN" dirty="0"/>
              <a:t>Bijective Mapping Network for Shadow Removal					CVPR2022</a:t>
            </a:r>
          </a:p>
        </p:txBody>
      </p:sp>
    </p:spTree>
    <p:extLst>
      <p:ext uri="{BB962C8B-B14F-4D97-AF65-F5344CB8AC3E}">
        <p14:creationId xmlns:p14="http://schemas.microsoft.com/office/powerpoint/2010/main" val="26348647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54000" y="201683"/>
            <a:ext cx="898070" cy="523220"/>
            <a:chOff x="-254000" y="201683"/>
            <a:chExt cx="898070" cy="523220"/>
          </a:xfrm>
        </p:grpSpPr>
        <p:sp>
          <p:nvSpPr>
            <p:cNvPr id="74" name="圆角矩形 73"/>
            <p:cNvSpPr/>
            <p:nvPr/>
          </p:nvSpPr>
          <p:spPr>
            <a:xfrm>
              <a:off x="-254000" y="227083"/>
              <a:ext cx="898070" cy="439668"/>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文本框 74"/>
            <p:cNvSpPr txBox="1"/>
            <p:nvPr/>
          </p:nvSpPr>
          <p:spPr>
            <a:xfrm>
              <a:off x="65706" y="201683"/>
              <a:ext cx="467694" cy="523220"/>
            </a:xfrm>
            <a:prstGeom prst="rect">
              <a:avLst/>
            </a:prstGeom>
            <a:noFill/>
          </p:spPr>
          <p:txBody>
            <a:bodyPr wrap="square" rtlCol="0">
              <a:spAutoFit/>
            </a:bodyPr>
            <a:lstStyle/>
            <a:p>
              <a:pPr algn="ctr"/>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76" name="文本框 75"/>
          <p:cNvSpPr txBox="1"/>
          <p:nvPr/>
        </p:nvSpPr>
        <p:spPr>
          <a:xfrm>
            <a:off x="701167" y="144940"/>
            <a:ext cx="1313815" cy="582295"/>
          </a:xfrm>
          <a:prstGeom prst="rect">
            <a:avLst/>
          </a:prstGeom>
          <a:noFill/>
        </p:spPr>
        <p:txBody>
          <a:bodyPr wrap="none" lIns="91436" tIns="45718" rIns="91436" bIns="45718" rtlCol="0">
            <a:spAutoFit/>
          </a:bodyPr>
          <a:lstStyle/>
          <a:p>
            <a:r>
              <a:rPr lang="en-US" altLang="zh-CN" sz="3200" dirty="0">
                <a:solidFill>
                  <a:schemeClr val="tx1">
                    <a:lumMod val="65000"/>
                    <a:lumOff val="35000"/>
                  </a:schemeClr>
                </a:solidFill>
                <a:latin typeface="微软雅黑" panose="020B0503020204020204" pitchFamily="34" charset="-122"/>
                <a:ea typeface="微软雅黑" panose="020B0503020204020204" pitchFamily="34" charset="-122"/>
              </a:rPr>
              <a:t>Detail</a:t>
            </a:r>
          </a:p>
        </p:txBody>
      </p:sp>
      <p:grpSp>
        <p:nvGrpSpPr>
          <p:cNvPr id="41" name="组合 40"/>
          <p:cNvGrpSpPr/>
          <p:nvPr/>
        </p:nvGrpSpPr>
        <p:grpSpPr>
          <a:xfrm>
            <a:off x="2584397" y="217491"/>
            <a:ext cx="10096500" cy="439541"/>
            <a:chOff x="2584397" y="217491"/>
            <a:chExt cx="10096500" cy="439541"/>
          </a:xfrm>
        </p:grpSpPr>
        <p:sp>
          <p:nvSpPr>
            <p:cNvPr id="43" name="圆角矩形 4"/>
            <p:cNvSpPr/>
            <p:nvPr/>
          </p:nvSpPr>
          <p:spPr>
            <a:xfrm>
              <a:off x="2584397" y="217491"/>
              <a:ext cx="10083800" cy="328609"/>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圆角矩形 8"/>
            <p:cNvSpPr/>
            <p:nvPr/>
          </p:nvSpPr>
          <p:spPr>
            <a:xfrm flipV="1">
              <a:off x="2597097" y="621032"/>
              <a:ext cx="10083800" cy="36000"/>
            </a:xfrm>
            <a:prstGeom prst="roundRect">
              <a:avLst>
                <a:gd name="adj" fmla="val 50000"/>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 name="图片 39"/>
          <p:cNvPicPr>
            <a:picLocks noChangeAspect="1"/>
          </p:cNvPicPr>
          <p:nvPr/>
        </p:nvPicPr>
        <p:blipFill rotWithShape="1">
          <a:blip r:embed="rId3" cstate="print">
            <a:extLst>
              <a:ext uri="{28A0092B-C50C-407E-A947-70E740481C1C}">
                <a14:useLocalDpi xmlns:a14="http://schemas.microsoft.com/office/drawing/2010/main" val="0"/>
              </a:ext>
            </a:extLst>
          </a:blip>
          <a:srcRect t="23044"/>
          <a:stretch>
            <a:fillRect/>
          </a:stretch>
        </p:blipFill>
        <p:spPr>
          <a:xfrm>
            <a:off x="10733656" y="176254"/>
            <a:ext cx="1264639" cy="444778"/>
          </a:xfrm>
          <a:prstGeom prst="rect">
            <a:avLst/>
          </a:prstGeom>
        </p:spPr>
      </p:pic>
      <p:sp>
        <p:nvSpPr>
          <p:cNvPr id="3" name="灯片编号占位符 2">
            <a:extLst>
              <a:ext uri="{FF2B5EF4-FFF2-40B4-BE49-F238E27FC236}">
                <a16:creationId xmlns:a16="http://schemas.microsoft.com/office/drawing/2014/main" id="{2485798D-77DE-4986-9ED6-17DF995C10BF}"/>
              </a:ext>
            </a:extLst>
          </p:cNvPr>
          <p:cNvSpPr>
            <a:spLocks noGrp="1"/>
          </p:cNvSpPr>
          <p:nvPr>
            <p:ph type="sldNum" sz="quarter" idx="12"/>
          </p:nvPr>
        </p:nvSpPr>
        <p:spPr/>
        <p:txBody>
          <a:bodyPr/>
          <a:lstStyle/>
          <a:p>
            <a:fld id="{01635508-54A0-4FB0-A4C5-6467DE85E924}" type="slidenum">
              <a:rPr lang="zh-CN" altLang="en-US" smtClean="0"/>
              <a:t>24</a:t>
            </a:fld>
            <a:endParaRPr lang="zh-CN" altLang="en-US"/>
          </a:p>
        </p:txBody>
      </p:sp>
      <p:sp>
        <p:nvSpPr>
          <p:cNvPr id="4" name="矩形 3">
            <a:extLst>
              <a:ext uri="{FF2B5EF4-FFF2-40B4-BE49-F238E27FC236}">
                <a16:creationId xmlns:a16="http://schemas.microsoft.com/office/drawing/2014/main" id="{804EB7C3-ABE6-4982-B9A5-B5400B3DF44D}"/>
              </a:ext>
            </a:extLst>
          </p:cNvPr>
          <p:cNvSpPr/>
          <p:nvPr/>
        </p:nvSpPr>
        <p:spPr>
          <a:xfrm>
            <a:off x="179480" y="1111517"/>
            <a:ext cx="12012520" cy="3970318"/>
          </a:xfrm>
          <a:prstGeom prst="rect">
            <a:avLst/>
          </a:prstGeom>
        </p:spPr>
        <p:txBody>
          <a:bodyPr wrap="square">
            <a:spAutoFit/>
          </a:bodyPr>
          <a:lstStyle/>
          <a:p>
            <a:r>
              <a:rPr lang="en-US" altLang="zh-CN" b="1" dirty="0"/>
              <a:t>Conditional normalizing flow:</a:t>
            </a:r>
          </a:p>
          <a:p>
            <a:r>
              <a:rPr lang="en-US" altLang="zh-CN" dirty="0"/>
              <a:t>[1] </a:t>
            </a:r>
            <a:r>
              <a:rPr lang="en-US" altLang="zh-CN" dirty="0" err="1"/>
              <a:t>SRFlow</a:t>
            </a:r>
            <a:r>
              <a:rPr lang="en-US" altLang="zh-CN" dirty="0"/>
              <a:t>: Learning the Super-Resolution Space with Normalizing Flow		ECCV2020</a:t>
            </a:r>
          </a:p>
          <a:p>
            <a:r>
              <a:rPr lang="en-US" altLang="zh-CN" dirty="0"/>
              <a:t>[2] </a:t>
            </a:r>
            <a:r>
              <a:rPr lang="en-US" altLang="zh-CN" dirty="0" err="1"/>
              <a:t>DehazeFlow</a:t>
            </a:r>
            <a:r>
              <a:rPr lang="en-US" altLang="zh-CN" dirty="0"/>
              <a:t>: Multi-scale Conditional Flow Network for Single Image Dehazing	 MM 2021</a:t>
            </a:r>
          </a:p>
          <a:p>
            <a:r>
              <a:rPr lang="en-US" altLang="zh-CN" dirty="0"/>
              <a:t>[3] Low-Light Image Enhancement with Normalizing Flow				AAAI 2022</a:t>
            </a:r>
          </a:p>
          <a:p>
            <a:r>
              <a:rPr lang="en-US" altLang="zh-CN" dirty="0"/>
              <a:t>[4] </a:t>
            </a:r>
            <a:r>
              <a:rPr lang="en-US" altLang="zh-CN" dirty="0" err="1"/>
              <a:t>StyleFlow</a:t>
            </a:r>
            <a:r>
              <a:rPr lang="en-US" altLang="zh-CN" dirty="0"/>
              <a:t>: Attribute-conditioned Exploration of </a:t>
            </a:r>
            <a:r>
              <a:rPr lang="en-US" altLang="zh-CN" dirty="0" err="1"/>
              <a:t>StyleGAN</a:t>
            </a:r>
            <a:r>
              <a:rPr lang="en-US" altLang="zh-CN" dirty="0"/>
              <a:t>-Generated Images using Conditional Continuous Normalizing Flows									SIGGRAPH 2022</a:t>
            </a:r>
          </a:p>
          <a:p>
            <a:r>
              <a:rPr lang="en-US" altLang="zh-CN" dirty="0"/>
              <a:t>[5] Learning Diverse Tone Styles for Image Retouching           			</a:t>
            </a:r>
            <a:r>
              <a:rPr lang="en-US" altLang="zh-CN" dirty="0" err="1"/>
              <a:t>arxiv</a:t>
            </a:r>
            <a:r>
              <a:rPr lang="en-US" altLang="zh-CN" dirty="0"/>
              <a:t>. 2207</a:t>
            </a:r>
          </a:p>
          <a:p>
            <a:endParaRPr lang="en-US" altLang="zh-CN" dirty="0"/>
          </a:p>
          <a:p>
            <a:r>
              <a:rPr lang="en-US" altLang="zh-CN" b="1" dirty="0"/>
              <a:t>Invertible network:</a:t>
            </a:r>
          </a:p>
          <a:p>
            <a:r>
              <a:rPr lang="en-US" altLang="zh-CN" dirty="0"/>
              <a:t>[1] Invertible Denoising Network: A Light Solution for Real Noise Removal	CVPR 2021</a:t>
            </a:r>
          </a:p>
          <a:p>
            <a:r>
              <a:rPr lang="en-US" altLang="zh-CN" dirty="0"/>
              <a:t>[2] </a:t>
            </a:r>
            <a:r>
              <a:rPr lang="en-US" altLang="zh-CN" dirty="0" err="1"/>
              <a:t>WINNet</a:t>
            </a:r>
            <a:r>
              <a:rPr lang="en-US" altLang="zh-CN" dirty="0"/>
              <a:t>: Wavelet-Inspired Invertible Network for Image Denoising 	TIP2022</a:t>
            </a:r>
          </a:p>
          <a:p>
            <a:r>
              <a:rPr lang="en-US" altLang="zh-CN" dirty="0"/>
              <a:t>[3] Bijective Mapping Network for Shadow Removal			CVPR2022</a:t>
            </a:r>
            <a:br>
              <a:rPr lang="en-US" altLang="zh-CN" dirty="0"/>
            </a:br>
            <a:r>
              <a:rPr lang="en-US" altLang="zh-CN" dirty="0"/>
              <a:t>[4] Invertible Image Decolorization 					TIP2021</a:t>
            </a:r>
          </a:p>
          <a:p>
            <a:r>
              <a:rPr lang="en-US" altLang="zh-CN" dirty="0"/>
              <a:t>[5] Invertible Image Rescaling						ECCV2020</a:t>
            </a:r>
            <a:endParaRPr lang="zh-CN" altLang="en-US" dirty="0"/>
          </a:p>
        </p:txBody>
      </p:sp>
    </p:spTree>
    <p:extLst>
      <p:ext uri="{BB962C8B-B14F-4D97-AF65-F5344CB8AC3E}">
        <p14:creationId xmlns:p14="http://schemas.microsoft.com/office/powerpoint/2010/main" val="9877428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rot="10800000">
            <a:off x="0" y="-7"/>
            <a:ext cx="12192000" cy="242661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5"/>
          <p:cNvSpPr/>
          <p:nvPr/>
        </p:nvSpPr>
        <p:spPr>
          <a:xfrm rot="10800000">
            <a:off x="0" y="2493941"/>
            <a:ext cx="12192000" cy="70698"/>
          </a:xfrm>
          <a:prstGeom prst="rect">
            <a:avLst/>
          </a:prstGeom>
          <a:solidFill>
            <a:srgbClr val="01492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536239" y="3909427"/>
            <a:ext cx="5119523" cy="1107996"/>
          </a:xfrm>
          <a:prstGeom prst="rect">
            <a:avLst/>
          </a:prstGeom>
          <a:noFill/>
        </p:spPr>
        <p:txBody>
          <a:bodyPr wrap="square" rtlCol="0">
            <a:spAutoFit/>
          </a:bodyPr>
          <a:lstStyle/>
          <a:p>
            <a:pPr algn="ctr"/>
            <a:r>
              <a:rPr lang="zh-CN" altLang="en-US" sz="6600" b="1" dirty="0">
                <a:solidFill>
                  <a:srgbClr val="014924"/>
                </a:solidFill>
                <a:latin typeface="微软雅黑" panose="020B0503020204020204" pitchFamily="34" charset="-122"/>
                <a:ea typeface="微软雅黑" panose="020B0503020204020204" pitchFamily="34" charset="-122"/>
              </a:rPr>
              <a:t>感谢聆听</a:t>
            </a:r>
          </a:p>
        </p:txBody>
      </p:sp>
      <p:sp>
        <p:nvSpPr>
          <p:cNvPr id="19" name="文本框 18"/>
          <p:cNvSpPr txBox="1"/>
          <p:nvPr/>
        </p:nvSpPr>
        <p:spPr>
          <a:xfrm>
            <a:off x="323851" y="-24013"/>
            <a:ext cx="11544299" cy="3154706"/>
          </a:xfrm>
          <a:prstGeom prst="rect">
            <a:avLst/>
          </a:prstGeom>
        </p:spPr>
        <p:txBody>
          <a:bodyPr wrap="square" lIns="91436" tIns="45718" rIns="91436" bIns="45718">
            <a:spAutoFit/>
          </a:bodyPr>
          <a:lstStyle>
            <a:defPPr>
              <a:defRPr lang="zh-CN"/>
            </a:defPPr>
            <a:lvl1pPr algn="ctr">
              <a:defRPr sz="1050">
                <a:solidFill>
                  <a:schemeClr val="tx1">
                    <a:lumMod val="65000"/>
                    <a:lumOff val="35000"/>
                  </a:schemeClr>
                </a:solidFill>
                <a:latin typeface="微软雅黑" panose="020B0503020204020204" pitchFamily="34" charset="-122"/>
                <a:ea typeface="微软雅黑" panose="020B0503020204020204" pitchFamily="34" charset="-122"/>
              </a:defRPr>
            </a:lvl1pPr>
          </a:lstStyle>
          <a:p>
            <a:pPr algn="dist"/>
            <a:r>
              <a:rPr lang="en-US" altLang="zh-CN" sz="19900" b="1" dirty="0">
                <a:solidFill>
                  <a:schemeClr val="bg1">
                    <a:alpha val="10000"/>
                  </a:schemeClr>
                </a:solidFill>
              </a:rPr>
              <a:t>THANKS</a:t>
            </a:r>
            <a:endParaRPr lang="zh-CN" altLang="en-US" sz="19900" b="1" dirty="0">
              <a:solidFill>
                <a:schemeClr val="bg1">
                  <a:alpha val="10000"/>
                </a:schemeClr>
              </a:solidFill>
            </a:endParaRPr>
          </a:p>
        </p:txBody>
      </p:sp>
      <p:grpSp>
        <p:nvGrpSpPr>
          <p:cNvPr id="7" name="组合 6"/>
          <p:cNvGrpSpPr/>
          <p:nvPr/>
        </p:nvGrpSpPr>
        <p:grpSpPr>
          <a:xfrm>
            <a:off x="4876405" y="1196335"/>
            <a:ext cx="2439190" cy="2439192"/>
            <a:chOff x="5007734" y="902247"/>
            <a:chExt cx="2543685" cy="2543686"/>
          </a:xfrm>
        </p:grpSpPr>
        <p:sp>
          <p:nvSpPr>
            <p:cNvPr id="8" name="椭圆 7"/>
            <p:cNvSpPr/>
            <p:nvPr/>
          </p:nvSpPr>
          <p:spPr>
            <a:xfrm>
              <a:off x="5007734" y="902247"/>
              <a:ext cx="2543685" cy="2543686"/>
            </a:xfrm>
            <a:prstGeom prst="ellipse">
              <a:avLst/>
            </a:prstGeom>
            <a:gradFill flip="none" rotWithShape="1">
              <a:gsLst>
                <a:gs pos="0">
                  <a:schemeClr val="bg1"/>
                </a:gs>
                <a:gs pos="100000">
                  <a:srgbClr val="E8E8E8"/>
                </a:gs>
              </a:gsLst>
              <a:lin ang="5400000" scaled="1"/>
              <a:tileRect/>
            </a:gradFill>
            <a:ln>
              <a:noFill/>
            </a:ln>
            <a:effectLst>
              <a:outerShdw blurRad="139700" dist="38100" dir="5400000" algn="t" rotWithShape="0">
                <a:prstClr val="black">
                  <a:alpha val="19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rot="10800000">
              <a:off x="5160137" y="1054647"/>
              <a:ext cx="2213120" cy="2213120"/>
            </a:xfrm>
            <a:prstGeom prst="ellipse">
              <a:avLst/>
            </a:prstGeom>
            <a:gradFill flip="none" rotWithShape="1">
              <a:gsLst>
                <a:gs pos="0">
                  <a:schemeClr val="bg1"/>
                </a:gs>
                <a:gs pos="100000">
                  <a:srgbClr val="E8E8E8"/>
                </a:gs>
              </a:gsLst>
              <a:lin ang="5400000" scaled="1"/>
              <a:tileRect/>
            </a:gradFill>
            <a:ln>
              <a:noFill/>
            </a:ln>
            <a:effectLst>
              <a:innerShdw blurRad="88900">
                <a:prstClr val="black">
                  <a:alpha val="1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1" name="图片 20"/>
          <p:cNvPicPr>
            <a:picLocks noChangeAspect="1"/>
          </p:cNvPicPr>
          <p:nvPr/>
        </p:nvPicPr>
        <p:blipFill>
          <a:blip r:embed="rId3" cstate="print">
            <a:extLst>
              <a:ext uri="{BEBA8EAE-BF5A-486C-A8C5-ECC9F3942E4B}">
                <a14:imgProps xmlns:a14="http://schemas.microsoft.com/office/drawing/2010/main">
                  <a14:imgLayer r:embed="rId4">
                    <a14:imgEffect>
                      <a14:backgroundRemoval t="0" b="100000" l="0" r="100000"/>
                    </a14:imgEffect>
                  </a14:imgLayer>
                </a14:imgProps>
              </a:ext>
              <a:ext uri="{28A0092B-C50C-407E-A947-70E740481C1C}">
                <a14:useLocalDpi xmlns:a14="http://schemas.microsoft.com/office/drawing/2010/main" val="0"/>
              </a:ext>
            </a:extLst>
          </a:blip>
          <a:stretch>
            <a:fillRect/>
          </a:stretch>
        </p:blipFill>
        <p:spPr>
          <a:xfrm>
            <a:off x="5127804" y="1438170"/>
            <a:ext cx="1936392" cy="1930811"/>
          </a:xfrm>
          <a:prstGeom prst="rect">
            <a:avLst/>
          </a:prstGeom>
        </p:spPr>
      </p:pic>
      <p:sp>
        <p:nvSpPr>
          <p:cNvPr id="2" name="灯片编号占位符 1">
            <a:extLst>
              <a:ext uri="{FF2B5EF4-FFF2-40B4-BE49-F238E27FC236}">
                <a16:creationId xmlns:a16="http://schemas.microsoft.com/office/drawing/2014/main" id="{42EF08B7-C9C0-4B3D-A76C-A8FC33D173C6}"/>
              </a:ext>
            </a:extLst>
          </p:cNvPr>
          <p:cNvSpPr>
            <a:spLocks noGrp="1"/>
          </p:cNvSpPr>
          <p:nvPr>
            <p:ph type="sldNum" sz="quarter" idx="12"/>
          </p:nvPr>
        </p:nvSpPr>
        <p:spPr/>
        <p:txBody>
          <a:bodyPr/>
          <a:lstStyle/>
          <a:p>
            <a:fld id="{01635508-54A0-4FB0-A4C5-6467DE85E924}" type="slidenum">
              <a:rPr lang="zh-CN" altLang="en-US" smtClean="0"/>
              <a:t>25</a:t>
            </a:fld>
            <a:endParaRPr lang="zh-CN" altLang="en-US"/>
          </a:p>
        </p:txBody>
      </p:sp>
    </p:spTree>
  </p:cSld>
  <p:clrMapOvr>
    <a:masterClrMapping/>
  </p:clrMapOvr>
</p:sld>
</file>

<file path=ppt/theme/theme1.xml><?xml version="1.0" encoding="utf-8"?>
<a:theme xmlns:a="http://schemas.openxmlformats.org/drawingml/2006/main" name="Office 主题">
  <a:themeElements>
    <a:clrScheme name="绿色">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3760</TotalTime>
  <Words>1530</Words>
  <Application>Microsoft Office PowerPoint</Application>
  <PresentationFormat>宽屏</PresentationFormat>
  <Paragraphs>188</Paragraphs>
  <Slides>25</Slides>
  <Notes>25</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25</vt:i4>
      </vt:variant>
    </vt:vector>
  </HeadingPairs>
  <TitlesOfParts>
    <vt:vector size="32" baseType="lpstr">
      <vt:lpstr>宋体</vt:lpstr>
      <vt:lpstr>微软雅黑</vt:lpstr>
      <vt:lpstr>Arial</vt:lpstr>
      <vt:lpstr>Calibri</vt:lpstr>
      <vt:lpstr>Calibri Light</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基础架构处</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0022</dc:title>
  <dc:creator>ZK</dc:creator>
  <cp:lastModifiedBy>wangchenxi</cp:lastModifiedBy>
  <cp:revision>342</cp:revision>
  <dcterms:created xsi:type="dcterms:W3CDTF">2017-04-21T07:43:00Z</dcterms:created>
  <dcterms:modified xsi:type="dcterms:W3CDTF">2022-12-18T07:58:49Z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2052-11.1.0.11194</vt:lpwstr>
  </property>
  <property fmtid="{D5CDD505-2E9C-101B-9397-08002B2CF9AE}" pid="3" name="ICV">
    <vt:lpwstr>BCD2C34A67BD4471831CA723E43DC96B</vt:lpwstr>
  </property>
</Properties>
</file>